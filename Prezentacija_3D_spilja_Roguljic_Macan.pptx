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717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a Macan" userId="8f63e065e550e71c" providerId="LiveId" clId="{BD2A59FA-EB9A-4BCC-90BF-9E9D99DD59FE}"/>
    <pc:docChg chg="modSld">
      <pc:chgData name="Mia Macan" userId="8f63e065e550e71c" providerId="LiveId" clId="{BD2A59FA-EB9A-4BCC-90BF-9E9D99DD59FE}" dt="2026-09-14T21:07:24.975" v="2" actId="20577"/>
      <pc:docMkLst>
        <pc:docMk/>
      </pc:docMkLst>
      <pc:sldChg chg="modSp mod">
        <pc:chgData name="Mia Macan" userId="8f63e065e550e71c" providerId="LiveId" clId="{BD2A59FA-EB9A-4BCC-90BF-9E9D99DD59FE}" dt="2026-09-14T21:07:01.777" v="0" actId="20577"/>
        <pc:sldMkLst>
          <pc:docMk/>
          <pc:sldMk cId="0" sldId="257"/>
        </pc:sldMkLst>
        <pc:spChg chg="mod">
          <ac:chgData name="Mia Macan" userId="8f63e065e550e71c" providerId="LiveId" clId="{BD2A59FA-EB9A-4BCC-90BF-9E9D99DD59FE}" dt="2026-09-14T21:07:01.777" v="0" actId="20577"/>
          <ac:spMkLst>
            <pc:docMk/>
            <pc:sldMk cId="0" sldId="257"/>
            <ac:spMk id="4" creationId="{00000000-0000-0000-0000-000000000000}"/>
          </ac:spMkLst>
        </pc:spChg>
      </pc:sldChg>
      <pc:sldChg chg="modSp mod">
        <pc:chgData name="Mia Macan" userId="8f63e065e550e71c" providerId="LiveId" clId="{BD2A59FA-EB9A-4BCC-90BF-9E9D99DD59FE}" dt="2026-09-14T21:07:24.975" v="2" actId="20577"/>
        <pc:sldMkLst>
          <pc:docMk/>
          <pc:sldMk cId="0" sldId="264"/>
        </pc:sldMkLst>
        <pc:spChg chg="mod">
          <ac:chgData name="Mia Macan" userId="8f63e065e550e71c" providerId="LiveId" clId="{BD2A59FA-EB9A-4BCC-90BF-9E9D99DD59FE}" dt="2026-09-14T21:07:24.975" v="2" actId="20577"/>
          <ac:spMkLst>
            <pc:docMk/>
            <pc:sldMk cId="0" sldId="264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2761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24CD37C-D22B-E0A1-D7F3-9ECF27AD4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71" y="0"/>
            <a:ext cx="15763517" cy="70199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>
                <a:solidFill>
                  <a:srgbClr val="C9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</a:t>
            </a:r>
            <a:r>
              <a:rPr lang="en-US" sz="1400" b="1" kern="0" spc="200" dirty="0">
                <a:solidFill>
                  <a:srgbClr val="C9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RAČUNALNA GRAFIKA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77240" y="1828800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Interaktivna 3D scena špilje</a:t>
            </a:r>
            <a:endParaRPr lang="en-US" sz="42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stvarnom vremenu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822960" y="3441469"/>
            <a:ext cx="5036302" cy="0"/>
          </a:xfrm>
          <a:prstGeom prst="line">
            <a:avLst/>
          </a:prstGeom>
          <a:noFill/>
          <a:ln w="19050">
            <a:solidFill>
              <a:srgbClr val="5B7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77240" y="3441469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00"/>
              </a:lnSpc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Lovro Roguljić</a:t>
            </a:r>
            <a:r>
              <a:rPr lang="hr-HR" sz="1600" dirty="0">
                <a:solidFill>
                  <a:schemeClr val="bg1"/>
                </a:solidFill>
              </a:rPr>
              <a:t> &amp; 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Macan  </a:t>
            </a:r>
            <a:endParaRPr lang="hr-HR" sz="1600" b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Domagoj Ševerdija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Fakultet primijenjene matematike i informatike Osijek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MOTIVACIJA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Zašto interaktivna scena, a ne jedan render?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1146551"/>
            <a:ext cx="64922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ts val="2200"/>
              </a:lnSpc>
              <a:spcAft>
                <a:spcPts val="1400"/>
              </a:spcAft>
              <a:buSzPct val="100000"/>
              <a:buChar char="•"/>
            </a:pP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mjesto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jednog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gotovog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kadra</a:t>
            </a: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prostor kroz koji se stvarno hoda, gleda iz bilo kojeg kuta i fizički djeluje na objekte u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njemu</a:t>
            </a:r>
            <a:endParaRPr lang="en-US" sz="1500" dirty="0"/>
          </a:p>
          <a:p>
            <a:pPr marL="228600" indent="-228600">
              <a:lnSpc>
                <a:spcPts val="22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špilja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 otvorom u stropu, dnevno svjetlo pada na tamno jezero, stijene obrasle mahovinom, voda kapa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niz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zidove</a:t>
            </a:r>
            <a:endParaRPr lang="en-US" sz="1500" dirty="0"/>
          </a:p>
          <a:p>
            <a:pPr marL="228600" indent="-228600">
              <a:lnSpc>
                <a:spcPts val="2200"/>
              </a:lnSpc>
              <a:spcAft>
                <a:spcPts val="1400"/>
              </a:spcAft>
              <a:buSzPct val="100000"/>
              <a:buChar char="•"/>
            </a:pP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geometriju, cilj je bio dočarati i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atmosferu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vlagu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tišinu,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prigušeno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svjetlo</a:t>
            </a: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 sve to prikazivati tečno, u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stvarnom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vremenu</a:t>
            </a:r>
            <a:endParaRPr lang="en-US" sz="1500" dirty="0"/>
          </a:p>
        </p:txBody>
      </p:sp>
      <p:pic>
        <p:nvPicPr>
          <p:cNvPr id="5" name="Image 0" descr="/home/claude/pptx/_b3_final_clearing_objec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60920" y="1051560"/>
            <a:ext cx="4297680" cy="24140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60920" y="35204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Ulaz u špilju - grubi model s vegetacijom (Blender)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ALATI I TIJEK RADA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Dva alata, jasno podijeljen posao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 izrađuje sadržaj; Godot donosi sve odluke o konačnom izgledu scene u stvarnom vremenu.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246120" cy="2926080"/>
          </a:xfrm>
          <a:prstGeom prst="roundRect">
            <a:avLst>
              <a:gd name="adj" fmla="val 3125"/>
            </a:avLst>
          </a:prstGeom>
          <a:solidFill>
            <a:srgbClr val="2B2A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851660" y="2651760"/>
            <a:ext cx="640080" cy="640080"/>
          </a:xfrm>
          <a:prstGeom prst="ellipse">
            <a:avLst/>
          </a:prstGeom>
          <a:solidFill>
            <a:srgbClr val="C99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5166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347472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Blender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eometrija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UV, bake tekstura,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kolizijske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mreže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849624" y="3429000"/>
            <a:ext cx="3931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97680" y="2331720"/>
            <a:ext cx="3246120" cy="2926080"/>
          </a:xfrm>
          <a:prstGeom prst="roundRect">
            <a:avLst>
              <a:gd name="adj" fmla="val 3125"/>
            </a:avLst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600700" y="2651760"/>
            <a:ext cx="640080" cy="640080"/>
          </a:xfrm>
          <a:prstGeom prst="ellipse">
            <a:avLst/>
          </a:prstGeom>
          <a:solidFill>
            <a:srgbClr val="C99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0070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26280" y="347472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glTF 2.0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4023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rijenos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PBR materijala, vertex boja i hijerarhije bez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gubitka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598664" y="3429000"/>
            <a:ext cx="3931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046720" y="2331720"/>
            <a:ext cx="3246120" cy="2926080"/>
          </a:xfrm>
          <a:prstGeom prst="roundRect">
            <a:avLst>
              <a:gd name="adj" fmla="val 3125"/>
            </a:avLst>
          </a:prstGeom>
          <a:solidFill>
            <a:srgbClr val="2B2A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349740" y="2651760"/>
            <a:ext cx="640080" cy="640080"/>
          </a:xfrm>
          <a:prstGeom prst="ellipse">
            <a:avLst/>
          </a:prstGeom>
          <a:solidFill>
            <a:srgbClr val="C99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34974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75320" y="347472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Godot 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4023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svjetljenje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magla, voda, fizika,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zvuk</a:t>
            </a: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što ovisi o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pogledu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igrača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55321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Vodeći proračun: ~16 ms po sličici za 60 fps na 1440p, desktop GPU srednje klase.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BLENDER - GEOMETRIJA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 grubog modela do detaljne špilje</a:t>
            </a:r>
            <a:endParaRPr lang="en-US" sz="2700" dirty="0"/>
          </a:p>
        </p:txBody>
      </p:sp>
      <p:pic>
        <p:nvPicPr>
          <p:cNvPr id="4" name="Image 0" descr="/home/claude/pptx/_b1_u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691640"/>
            <a:ext cx="5257800" cy="2953512"/>
          </a:xfrm>
          <a:prstGeom prst="rect">
            <a:avLst/>
          </a:prstGeom>
        </p:spPr>
      </p:pic>
      <p:pic>
        <p:nvPicPr>
          <p:cNvPr id="5" name="Image 1" descr="/home/claude/pptx/_b4_hero_objec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80760" y="1691640"/>
            <a:ext cx="5257800" cy="295351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Blockout - usklađen s referentnom kamerom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08076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Detaljna ljuska + vegetacija (loze, paprati)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48640" y="516636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u jednostavnim primitivima, usklađen s referencom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preko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igh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-poly (displacement u 3 mjerila) 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Decimate 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low-poly za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igru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azlika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detalju zapečena u normal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mapu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kolizija je zasebna,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pojednostavljena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mreža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BLENDER - MATERIJALI I TEKSTURE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PBR materijali, zapečeni u teksture</a:t>
            </a:r>
            <a:endParaRPr lang="en-US" sz="2700" dirty="0"/>
          </a:p>
        </p:txBody>
      </p:sp>
      <p:pic>
        <p:nvPicPr>
          <p:cNvPr id="4" name="Image 0" descr="/home/claude/pptx/_mat_wal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691640"/>
            <a:ext cx="5257800" cy="2953512"/>
          </a:xfrm>
          <a:prstGeom prst="rect">
            <a:avLst/>
          </a:prstGeom>
        </p:spPr>
      </p:pic>
      <p:pic>
        <p:nvPicPr>
          <p:cNvPr id="5" name="Image 1" descr="/home/claude/pptx/_mat_detail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80760" y="1691640"/>
            <a:ext cx="5257800" cy="295351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Mokri pojas stijene - nizak roughness, Fresnel odsjaj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08076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Detalj normal mape - pukotine iz visokopoligonalne mreže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48640" y="516636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rincipled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BSDF (metallic/roughness)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u Blenderu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Godotu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oceduralni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materijali zapečeni u base colour / normal / ORM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teksture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ahovina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maska u vertex bojama + triplanarno projicirana tekstura u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Godotu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GODOT - SCENA U STVARNOM VREMENU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Osvjetljenje, magla i voda</a:t>
            </a:r>
            <a:endParaRPr lang="en-US" sz="2700" dirty="0"/>
          </a:p>
        </p:txBody>
      </p:sp>
      <p:pic>
        <p:nvPicPr>
          <p:cNvPr id="4" name="Image 0" descr="/home/claude/pptx/_mat_her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09360" y="777240"/>
            <a:ext cx="5303520" cy="2980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09360" y="3794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B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Konačan izgled u Godotu: LightmapGI, volumetrijska magla, shader vode</a:t>
            </a:r>
            <a:endParaRPr lang="en-US" sz="1050" dirty="0"/>
          </a:p>
        </p:txBody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83DDA0FD-CCAA-BDA9-F807-F51B9B012EB0}"/>
              </a:ext>
            </a:extLst>
          </p:cNvPr>
          <p:cNvSpPr/>
          <p:nvPr/>
        </p:nvSpPr>
        <p:spPr>
          <a:xfrm>
            <a:off x="45720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DirectionalLight3D</a:t>
            </a:r>
            <a:endParaRPr lang="en-US" sz="15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CBE677CD-E6CE-FE7B-2F27-FDBE8AF4FB05}"/>
              </a:ext>
            </a:extLst>
          </p:cNvPr>
          <p:cNvSpPr/>
          <p:nvPr/>
        </p:nvSpPr>
        <p:spPr>
          <a:xfrm>
            <a:off x="457200" y="192024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Jedan izvor svjetla kroz otvor u stropu, s kaskadnim sjenama.</a:t>
            </a:r>
            <a:endParaRPr lang="en-US" sz="120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118378CA-9010-A675-72EA-4C1BCC3B3E22}"/>
              </a:ext>
            </a:extLst>
          </p:cNvPr>
          <p:cNvSpPr/>
          <p:nvPr/>
        </p:nvSpPr>
        <p:spPr>
          <a:xfrm>
            <a:off x="457200" y="2606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LightmapGI</a:t>
            </a:r>
            <a:endParaRPr lang="en-US" sz="1500" dirty="0"/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8438D1FA-0FF6-00FA-C6E3-59F009DD1210}"/>
              </a:ext>
            </a:extLst>
          </p:cNvPr>
          <p:cNvSpPr/>
          <p:nvPr/>
        </p:nvSpPr>
        <p:spPr>
          <a:xfrm>
            <a:off x="457200" y="29718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Neizravno svjetlo </a:t>
            </a:r>
            <a:r>
              <a:rPr lang="en-US" sz="1200" dirty="0" err="1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unaprijed</a:t>
            </a: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zapečeno</a:t>
            </a:r>
            <a:r>
              <a:rPr lang="hr-HR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treperenja kakvo daju SDFGI/VoxelGI.</a:t>
            </a:r>
            <a:endParaRPr lang="en-US" sz="1200" dirty="0"/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B816A760-422A-F3B2-FB83-AF9DAB782A33}"/>
              </a:ext>
            </a:extLst>
          </p:cNvPr>
          <p:cNvSpPr/>
          <p:nvPr/>
        </p:nvSpPr>
        <p:spPr>
          <a:xfrm>
            <a:off x="457200" y="3657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Volumetrijska magla</a:t>
            </a:r>
            <a:endParaRPr lang="en-US" sz="15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1E4FD2C4-2FA6-4FB3-DB0F-DFAFC648F716}"/>
              </a:ext>
            </a:extLst>
          </p:cNvPr>
          <p:cNvSpPr/>
          <p:nvPr/>
        </p:nvSpPr>
        <p:spPr>
          <a:xfrm>
            <a:off x="457200" y="40233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Stvarni svjetlosni snopovi (god rays), gušći sloj magle iznad jezera.</a:t>
            </a:r>
            <a:endParaRPr lang="en-US" sz="12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FBA870EF-D116-B841-7E1A-3A1DB4127E17}"/>
              </a:ext>
            </a:extLst>
          </p:cNvPr>
          <p:cNvSpPr/>
          <p:nvPr/>
        </p:nvSpPr>
        <p:spPr>
          <a:xfrm>
            <a:off x="457200" y="4709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 vode</a:t>
            </a:r>
            <a:endParaRPr lang="en-US" sz="1500" dirty="0"/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D55926BA-0B40-3E09-3E1E-BDCDB2C51249}"/>
              </a:ext>
            </a:extLst>
          </p:cNvPr>
          <p:cNvSpPr/>
          <p:nvPr/>
        </p:nvSpPr>
        <p:spPr>
          <a:xfrm>
            <a:off x="457200" y="50749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Dubinska boja, refrakcija, Fresnel refleksija i valovi od bačenog kamena.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EC23BE-AAE5-884B-05A5-009B75845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23520"/>
            <a:ext cx="5344160" cy="30421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C49709-8B84-3F6A-D96B-7D4B4182C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36240"/>
            <a:ext cx="5383256" cy="319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GODOT - FIZIKA I INTERAKCIJA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 koja odgovara na dodir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F4F2EE"/>
          </a:solidFill>
          <a:ln w="12700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Igrač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CharacterBody3D, kapsulasti kolajder, yaw/pitch odvojen na tijelo i glavu, Jolt physics.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F4F2EE"/>
          </a:solidFill>
          <a:ln w="12700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0" y="2194560"/>
            <a:ext cx="502920" cy="502920"/>
          </a:xfrm>
          <a:prstGeom prst="ellipse">
            <a:avLst/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8803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Kamenje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0" y="338328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RigidBody3D lansiran impulsom razmjernim vremenu </a:t>
            </a:r>
            <a:r>
              <a:rPr lang="en-US" sz="125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drži</a:t>
            </a: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tipke</a:t>
            </a:r>
            <a:r>
              <a:rPr lang="hr-HR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pravo balističko gibanje.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92024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F4F2EE"/>
          </a:solidFill>
          <a:ln w="12700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21040" y="2194560"/>
            <a:ext cx="502920" cy="502920"/>
          </a:xfrm>
          <a:prstGeom prst="ellipse">
            <a:avLst/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2104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21040" y="28803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Volumen vode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38328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Area3D detektira ulazak tijela: pljusak, val u shaderu, sporije tonjenje kamena.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IZAZOVI U RADU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 nam je stvaralo najviše problema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213055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Globalna rasvjeta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SDFGI je treperio i propuštao svjetlo u zatvorenom prostoru -&gt; prešli na LightmapGI.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26480" y="19659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46520" y="213055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Magla i vidljivost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46520" y="256032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Preintenzivna magla progutala je scenu -&gt; fino podešena gustoća i anizotropija.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400507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Šavovi mahovine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68680" y="443484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Klasično UV mapiranje stvaralo je šavove -&gt; triplanarno projiciranje u shaderu.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384048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46520" y="400507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Trošak kolizije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46520" y="443484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Puna vizualna mreža kao kolizija usporavala je fiziku -&gt; zasebna, pojednostavljena kolizija.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ZAKLJUČAK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</a:t>
            </a: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hr-HR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 naučili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Naučeno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5212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ffline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render i scena u stvarnom vremenu traže potpuno drugačije odluke, i s istim PBR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modelom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materijala</a:t>
            </a:r>
            <a:endParaRPr lang="en-US" sz="13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odjela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alata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Blender za sadržaj, Godot za sve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konačne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odluke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pokazala se kao dobar okvir za rad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309360" y="1783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Sljedeći 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0" y="2194560"/>
            <a:ext cx="5212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aniji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LOD sustav za vegetaciju, koja je danas najgušća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blizu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kamere</a:t>
            </a:r>
            <a:endParaRPr lang="en-US" sz="13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inamička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globalna rasvjeta (SDFGI) za pokretne objekte, uz lightmape za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statičnu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geometriju</a:t>
            </a:r>
            <a:endParaRPr lang="en-US" sz="1300" dirty="0"/>
          </a:p>
        </p:txBody>
      </p:sp>
      <p:sp>
        <p:nvSpPr>
          <p:cNvPr id="9" name="Closing"/>
          <p:cNvSpPr/>
          <p:nvPr/>
        </p:nvSpPr>
        <p:spPr>
          <a:xfrm>
            <a:off x="548640" y="4572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i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/_b7_her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10F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822960" y="24688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Hvala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pažnji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 slijedi kratak demo scene uživo.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2377440" cy="0"/>
          </a:xfrm>
          <a:prstGeom prst="line">
            <a:avLst/>
          </a:prstGeom>
          <a:noFill/>
          <a:ln w="19050">
            <a:solidFill>
              <a:srgbClr val="C99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Macan  ·  Lovro Roguljić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674</Words>
  <Application>Microsoft Office PowerPoint</Application>
  <PresentationFormat>Widescreen</PresentationFormat>
  <Paragraphs>95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Mia Macan</cp:lastModifiedBy>
  <cp:revision>4</cp:revision>
  <dcterms:created xsi:type="dcterms:W3CDTF">2026-09-14T20:06:12Z</dcterms:created>
  <dcterms:modified xsi:type="dcterms:W3CDTF">2026-09-14T21:57:01Z</dcterms:modified>
</cp:coreProperties>
</file>
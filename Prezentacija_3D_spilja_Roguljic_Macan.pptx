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6" r:id="rId8"/>
    <p:sldId id="262" r:id="rId9"/>
    <p:sldId id="263" r:id="rId10"/>
    <p:sldId id="264" r:id="rId11"/>
    <p:sldId id="265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45" autoAdjust="0"/>
  </p:normalViewPr>
  <p:slideViewPr>
    <p:cSldViewPr snapToGrid="0" snapToObjects="1">
      <p:cViewPr varScale="1">
        <p:scale>
          <a:sx n="92" d="100"/>
          <a:sy n="92" d="100"/>
        </p:scale>
        <p:origin x="826" y="8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-533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a Macan" userId="8f63e065e550e71c" providerId="LiveId" clId="{BD2A59FA-EB9A-4BCC-90BF-9E9D99DD59FE}"/>
    <pc:docChg chg="modSld">
      <pc:chgData name="Mia Macan" userId="8f63e065e550e71c" providerId="LiveId" clId="{BD2A59FA-EB9A-4BCC-90BF-9E9D99DD59FE}" dt="2026-09-14T21:07:24.975" v="2" actId="20577"/>
      <pc:docMkLst>
        <pc:docMk/>
      </pc:docMkLst>
      <pc:sldChg chg="modSp mod">
        <pc:chgData name="Mia Macan" userId="8f63e065e550e71c" providerId="LiveId" clId="{BD2A59FA-EB9A-4BCC-90BF-9E9D99DD59FE}" dt="2026-09-14T21:07:01.777" v="0" actId="20577"/>
        <pc:sldMkLst>
          <pc:docMk/>
          <pc:sldMk cId="0" sldId="257"/>
        </pc:sldMkLst>
        <pc:spChg chg="mod">
          <ac:chgData name="Mia Macan" userId="8f63e065e550e71c" providerId="LiveId" clId="{BD2A59FA-EB9A-4BCC-90BF-9E9D99DD59FE}" dt="2026-09-14T21:07:01.777" v="0" actId="20577"/>
          <ac:spMkLst>
            <pc:docMk/>
            <pc:sldMk cId="0" sldId="257"/>
            <ac:spMk id="4" creationId="{00000000-0000-0000-0000-000000000000}"/>
          </ac:spMkLst>
        </pc:spChg>
      </pc:sldChg>
      <pc:sldChg chg="modSp mod">
        <pc:chgData name="Mia Macan" userId="8f63e065e550e71c" providerId="LiveId" clId="{BD2A59FA-EB9A-4BCC-90BF-9E9D99DD59FE}" dt="2026-09-14T21:07:24.975" v="2" actId="20577"/>
        <pc:sldMkLst>
          <pc:docMk/>
          <pc:sldMk cId="0" sldId="264"/>
        </pc:sldMkLst>
        <pc:spChg chg="mod">
          <ac:chgData name="Mia Macan" userId="8f63e065e550e71c" providerId="LiveId" clId="{BD2A59FA-EB9A-4BCC-90BF-9E9D99DD59FE}" dt="2026-09-14T21:07:24.975" v="2" actId="20577"/>
          <ac:spMkLst>
            <pc:docMk/>
            <pc:sldMk cId="0" sldId="264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62761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UV </a:t>
            </a:r>
            <a:r>
              <a:rPr lang="en-US" dirty="0" err="1"/>
              <a:t>mapiranje</a:t>
            </a:r>
            <a:r>
              <a:rPr lang="en-US" dirty="0"/>
              <a:t> - </a:t>
            </a:r>
            <a:r>
              <a:rPr lang="en-US" dirty="0" err="1"/>
              <a:t>Zato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tekstura</a:t>
            </a:r>
            <a:r>
              <a:rPr lang="en-US" dirty="0"/>
              <a:t> (</a:t>
            </a:r>
            <a:r>
              <a:rPr lang="en-US" dirty="0" err="1"/>
              <a:t>slika</a:t>
            </a:r>
            <a:r>
              <a:rPr lang="en-US" dirty="0"/>
              <a:t> </a:t>
            </a:r>
            <a:r>
              <a:rPr lang="en-US" dirty="0" err="1"/>
              <a:t>koju</a:t>
            </a:r>
            <a:r>
              <a:rPr lang="en-US" dirty="0"/>
              <a:t> </a:t>
            </a:r>
            <a:r>
              <a:rPr lang="en-US" dirty="0" err="1"/>
              <a:t>lijepiš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model) </a:t>
            </a:r>
            <a:r>
              <a:rPr lang="en-US" dirty="0" err="1"/>
              <a:t>ravna</a:t>
            </a:r>
            <a:r>
              <a:rPr lang="en-US" dirty="0"/>
              <a:t>, 2D </a:t>
            </a:r>
            <a:r>
              <a:rPr lang="en-US" dirty="0" err="1"/>
              <a:t>slika</a:t>
            </a:r>
            <a:r>
              <a:rPr lang="en-US" dirty="0"/>
              <a:t> —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papir</a:t>
            </a:r>
            <a:r>
              <a:rPr lang="en-US" dirty="0"/>
              <a:t>. Da bi </a:t>
            </a:r>
            <a:r>
              <a:rPr lang="en-US" dirty="0" err="1"/>
              <a:t>računalo</a:t>
            </a:r>
            <a:r>
              <a:rPr lang="en-US" dirty="0"/>
              <a:t> </a:t>
            </a:r>
            <a:r>
              <a:rPr lang="en-US" dirty="0" err="1"/>
              <a:t>znalo</a:t>
            </a:r>
            <a:r>
              <a:rPr lang="en-US" dirty="0"/>
              <a:t> koji </a:t>
            </a:r>
            <a:r>
              <a:rPr lang="en-US" dirty="0" err="1"/>
              <a:t>dio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ravne</a:t>
            </a:r>
            <a:r>
              <a:rPr lang="en-US" dirty="0"/>
              <a:t> </a:t>
            </a:r>
            <a:r>
              <a:rPr lang="en-US" dirty="0" err="1"/>
              <a:t>slike</a:t>
            </a:r>
            <a:r>
              <a:rPr lang="en-US" dirty="0"/>
              <a:t> ide </a:t>
            </a:r>
            <a:r>
              <a:rPr lang="en-US" dirty="0" err="1"/>
              <a:t>na</a:t>
            </a:r>
            <a:r>
              <a:rPr lang="en-US" dirty="0"/>
              <a:t> koji </a:t>
            </a:r>
            <a:r>
              <a:rPr lang="en-US" dirty="0" err="1"/>
              <a:t>dio</a:t>
            </a:r>
            <a:r>
              <a:rPr lang="en-US" dirty="0"/>
              <a:t> 3D </a:t>
            </a:r>
            <a:r>
              <a:rPr lang="en-US" dirty="0" err="1"/>
              <a:t>oblika</a:t>
            </a:r>
            <a:r>
              <a:rPr lang="en-US" dirty="0"/>
              <a:t>, </a:t>
            </a:r>
            <a:r>
              <a:rPr lang="en-US" dirty="0" err="1"/>
              <a:t>treba</a:t>
            </a:r>
            <a:r>
              <a:rPr lang="en-US" dirty="0"/>
              <a:t> mu "</a:t>
            </a:r>
            <a:r>
              <a:rPr lang="en-US" dirty="0" err="1"/>
              <a:t>uputa</a:t>
            </a:r>
            <a:r>
              <a:rPr lang="en-US" dirty="0"/>
              <a:t> za </a:t>
            </a:r>
            <a:r>
              <a:rPr lang="en-US" dirty="0" err="1"/>
              <a:t>rezanje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savijanje</a:t>
            </a:r>
            <a:r>
              <a:rPr lang="en-US" dirty="0"/>
              <a:t>" — to je UV </a:t>
            </a:r>
            <a:r>
              <a:rPr lang="en-US" dirty="0" err="1"/>
              <a:t>mapa</a:t>
            </a:r>
            <a:endParaRPr lang="en-US" dirty="0"/>
          </a:p>
          <a:p>
            <a:r>
              <a:rPr lang="en-US" dirty="0"/>
              <a:t>Bake = </a:t>
            </a:r>
            <a:r>
              <a:rPr lang="en-US" dirty="0" err="1"/>
              <a:t>jednom</a:t>
            </a:r>
            <a:r>
              <a:rPr lang="en-US" dirty="0"/>
              <a:t> </a:t>
            </a:r>
            <a:r>
              <a:rPr lang="en-US" dirty="0" err="1"/>
              <a:t>pokreneš</a:t>
            </a:r>
            <a:r>
              <a:rPr lang="en-US" dirty="0"/>
              <a:t> taj </a:t>
            </a:r>
            <a:r>
              <a:rPr lang="en-US" dirty="0" err="1"/>
              <a:t>spori</a:t>
            </a:r>
            <a:r>
              <a:rPr lang="en-US" dirty="0"/>
              <a:t> </a:t>
            </a:r>
            <a:r>
              <a:rPr lang="en-US" dirty="0" err="1"/>
              <a:t>izračun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rezultat</a:t>
            </a:r>
            <a:r>
              <a:rPr lang="en-US" dirty="0"/>
              <a:t> </a:t>
            </a:r>
            <a:r>
              <a:rPr lang="en-US" dirty="0" err="1"/>
              <a:t>spremiš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običnu</a:t>
            </a:r>
            <a:r>
              <a:rPr lang="en-US" dirty="0"/>
              <a:t> </a:t>
            </a:r>
            <a:r>
              <a:rPr lang="en-US" dirty="0" err="1"/>
              <a:t>fotografiju</a:t>
            </a:r>
            <a:r>
              <a:rPr lang="en-US" dirty="0"/>
              <a:t> (</a:t>
            </a:r>
            <a:r>
              <a:rPr lang="en-US" dirty="0" err="1"/>
              <a:t>sliku</a:t>
            </a:r>
            <a:r>
              <a:rPr lang="en-US" dirty="0"/>
              <a:t>) tog </a:t>
            </a:r>
            <a:r>
              <a:rPr lang="en-US" dirty="0" err="1"/>
              <a:t>kroja</a:t>
            </a:r>
            <a:r>
              <a:rPr lang="en-US" dirty="0"/>
              <a:t>. Sad </a:t>
            </a:r>
            <a:r>
              <a:rPr lang="en-US" dirty="0" err="1"/>
              <a:t>kad</a:t>
            </a:r>
            <a:r>
              <a:rPr lang="en-US" dirty="0"/>
              <a:t> god </a:t>
            </a:r>
            <a:r>
              <a:rPr lang="en-US" dirty="0" err="1"/>
              <a:t>trebaš</a:t>
            </a:r>
            <a:r>
              <a:rPr lang="en-US" dirty="0"/>
              <a:t> </a:t>
            </a:r>
            <a:r>
              <a:rPr lang="en-US" dirty="0" err="1"/>
              <a:t>tu</a:t>
            </a:r>
            <a:r>
              <a:rPr lang="en-US" dirty="0"/>
              <a:t> </a:t>
            </a:r>
            <a:r>
              <a:rPr lang="en-US" dirty="0" err="1"/>
              <a:t>boju</a:t>
            </a:r>
            <a:r>
              <a:rPr lang="en-US" dirty="0"/>
              <a:t>, ne </a:t>
            </a:r>
            <a:r>
              <a:rPr lang="en-US" dirty="0" err="1"/>
              <a:t>moraš</a:t>
            </a:r>
            <a:r>
              <a:rPr lang="en-US" dirty="0"/>
              <a:t> </a:t>
            </a:r>
            <a:r>
              <a:rPr lang="en-US" dirty="0" err="1"/>
              <a:t>ponovno</a:t>
            </a:r>
            <a:r>
              <a:rPr lang="en-US" dirty="0"/>
              <a:t> </a:t>
            </a:r>
            <a:r>
              <a:rPr lang="en-US" dirty="0" err="1"/>
              <a:t>računati</a:t>
            </a:r>
            <a:r>
              <a:rPr lang="en-US" dirty="0"/>
              <a:t> </a:t>
            </a:r>
            <a:r>
              <a:rPr lang="en-US" dirty="0" err="1"/>
              <a:t>formulu</a:t>
            </a:r>
            <a:r>
              <a:rPr lang="en-US" dirty="0"/>
              <a:t> —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pogledaš</a:t>
            </a:r>
            <a:r>
              <a:rPr lang="en-US" dirty="0"/>
              <a:t> </a:t>
            </a:r>
            <a:r>
              <a:rPr lang="en-US" dirty="0" err="1"/>
              <a:t>fotografiju</a:t>
            </a:r>
            <a:r>
              <a:rPr lang="en-US" dirty="0"/>
              <a:t>.</a:t>
            </a:r>
          </a:p>
          <a:p>
            <a:r>
              <a:rPr lang="en-US" dirty="0" err="1"/>
              <a:t>Kolizijska</a:t>
            </a:r>
            <a:r>
              <a:rPr lang="en-US" dirty="0"/>
              <a:t> </a:t>
            </a:r>
            <a:r>
              <a:rPr lang="en-US" dirty="0" err="1"/>
              <a:t>mreža</a:t>
            </a:r>
            <a:r>
              <a:rPr lang="en-US" dirty="0"/>
              <a:t> = </a:t>
            </a:r>
            <a:r>
              <a:rPr lang="en-US" dirty="0" err="1"/>
              <a:t>nevidljiva</a:t>
            </a:r>
            <a:r>
              <a:rPr lang="en-US" dirty="0"/>
              <a:t>, </a:t>
            </a:r>
            <a:r>
              <a:rPr lang="en-US" dirty="0" err="1"/>
              <a:t>pojednostavljena</a:t>
            </a:r>
            <a:r>
              <a:rPr lang="en-US" dirty="0"/>
              <a:t> </a:t>
            </a:r>
            <a:r>
              <a:rPr lang="en-US" dirty="0" err="1"/>
              <a:t>kopija</a:t>
            </a:r>
            <a:r>
              <a:rPr lang="en-US" dirty="0"/>
              <a:t> </a:t>
            </a:r>
            <a:r>
              <a:rPr lang="en-US" dirty="0" err="1"/>
              <a:t>oblika</a:t>
            </a:r>
            <a:r>
              <a:rPr lang="en-US" dirty="0"/>
              <a:t>,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postoji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da bi </a:t>
            </a:r>
            <a:r>
              <a:rPr lang="en-US" dirty="0" err="1"/>
              <a:t>fizika</a:t>
            </a:r>
            <a:r>
              <a:rPr lang="en-US" dirty="0"/>
              <a:t> </a:t>
            </a:r>
            <a:r>
              <a:rPr lang="en-US" dirty="0" err="1"/>
              <a:t>znala</a:t>
            </a:r>
            <a:r>
              <a:rPr lang="en-US" dirty="0"/>
              <a:t> </a:t>
            </a:r>
            <a:r>
              <a:rPr lang="en-US" dirty="0" err="1"/>
              <a:t>gdje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"</a:t>
            </a:r>
            <a:r>
              <a:rPr lang="en-US" dirty="0" err="1"/>
              <a:t>zidovi</a:t>
            </a:r>
            <a:r>
              <a:rPr lang="en-US" dirty="0"/>
              <a:t>" — </a:t>
            </a:r>
            <a:r>
              <a:rPr lang="en-US" dirty="0" err="1"/>
              <a:t>igrač</a:t>
            </a:r>
            <a:r>
              <a:rPr lang="en-US" dirty="0"/>
              <a:t> je </a:t>
            </a:r>
            <a:r>
              <a:rPr lang="en-US" dirty="0" err="1"/>
              <a:t>nikad</a:t>
            </a:r>
            <a:r>
              <a:rPr lang="en-US" dirty="0"/>
              <a:t> ne </a:t>
            </a:r>
            <a:r>
              <a:rPr lang="en-US" dirty="0" err="1"/>
              <a:t>vidi</a:t>
            </a:r>
            <a:r>
              <a:rPr lang="en-US" dirty="0"/>
              <a:t>.</a:t>
            </a:r>
          </a:p>
          <a:p>
            <a:r>
              <a:rPr lang="en-US" dirty="0" err="1"/>
              <a:t>glTF</a:t>
            </a:r>
            <a:r>
              <a:rPr lang="en-US" dirty="0"/>
              <a:t> 2.0 = format </a:t>
            </a:r>
            <a:r>
              <a:rPr lang="en-US" dirty="0" err="1"/>
              <a:t>datoteke</a:t>
            </a:r>
            <a:r>
              <a:rPr lang="en-US" dirty="0"/>
              <a:t> (</a:t>
            </a:r>
            <a:r>
              <a:rPr lang="en-US" dirty="0" err="1"/>
              <a:t>kao</a:t>
            </a:r>
            <a:r>
              <a:rPr lang="en-US" dirty="0"/>
              <a:t> .jpg za </a:t>
            </a:r>
            <a:r>
              <a:rPr lang="en-US" dirty="0" err="1"/>
              <a:t>slike</a:t>
            </a:r>
            <a:r>
              <a:rPr lang="en-US" dirty="0"/>
              <a:t>, </a:t>
            </a:r>
            <a:r>
              <a:rPr lang="en-US" dirty="0" err="1"/>
              <a:t>ili</a:t>
            </a:r>
            <a:r>
              <a:rPr lang="en-US" dirty="0"/>
              <a:t> .mp3 za </a:t>
            </a:r>
            <a:r>
              <a:rPr lang="en-US" dirty="0" err="1"/>
              <a:t>glazbu</a:t>
            </a:r>
            <a:r>
              <a:rPr lang="en-US" dirty="0"/>
              <a:t>, </a:t>
            </a:r>
            <a:r>
              <a:rPr lang="en-US" dirty="0" err="1"/>
              <a:t>samo</a:t>
            </a:r>
            <a:r>
              <a:rPr lang="en-US" dirty="0"/>
              <a:t> za 3D </a:t>
            </a:r>
            <a:r>
              <a:rPr lang="en-US" dirty="0" err="1"/>
              <a:t>modele</a:t>
            </a:r>
            <a:r>
              <a:rPr lang="en-US" dirty="0"/>
              <a:t>). </a:t>
            </a:r>
            <a:r>
              <a:rPr lang="en-US" dirty="0" err="1"/>
              <a:t>kovčeg</a:t>
            </a:r>
            <a:r>
              <a:rPr lang="en-US" dirty="0"/>
              <a:t>/</a:t>
            </a:r>
            <a:r>
              <a:rPr lang="en-US" dirty="0" err="1"/>
              <a:t>kutiju</a:t>
            </a:r>
            <a:r>
              <a:rPr lang="en-US" dirty="0"/>
              <a:t> u </a:t>
            </a:r>
            <a:r>
              <a:rPr lang="en-US" dirty="0" err="1"/>
              <a:t>koju</a:t>
            </a:r>
            <a:r>
              <a:rPr lang="en-US" dirty="0"/>
              <a:t> </a:t>
            </a:r>
            <a:r>
              <a:rPr lang="en-US" dirty="0" err="1"/>
              <a:t>spakiraš</a:t>
            </a:r>
            <a:r>
              <a:rPr lang="en-US" dirty="0"/>
              <a:t> </a:t>
            </a:r>
            <a:r>
              <a:rPr lang="en-US" dirty="0" err="1"/>
              <a:t>cijeli</a:t>
            </a:r>
            <a:r>
              <a:rPr lang="en-US" dirty="0"/>
              <a:t> 3D model — </a:t>
            </a:r>
            <a:r>
              <a:rPr lang="en-US" dirty="0" err="1"/>
              <a:t>geometriju</a:t>
            </a:r>
            <a:r>
              <a:rPr lang="en-US" dirty="0"/>
              <a:t>, </a:t>
            </a:r>
            <a:r>
              <a:rPr lang="en-US" dirty="0" err="1"/>
              <a:t>boje</a:t>
            </a:r>
            <a:r>
              <a:rPr lang="en-US" dirty="0"/>
              <a:t>, </a:t>
            </a:r>
            <a:r>
              <a:rPr lang="en-US" dirty="0" err="1"/>
              <a:t>materijale</a:t>
            </a:r>
            <a:r>
              <a:rPr lang="en-US" dirty="0"/>
              <a:t> — </a:t>
            </a:r>
            <a:r>
              <a:rPr lang="en-US" dirty="0" err="1"/>
              <a:t>i</a:t>
            </a:r>
            <a:r>
              <a:rPr lang="en-US" dirty="0"/>
              <a:t> ta se </a:t>
            </a:r>
            <a:r>
              <a:rPr lang="en-US" dirty="0" err="1"/>
              <a:t>kutija</a:t>
            </a:r>
            <a:r>
              <a:rPr lang="en-US" dirty="0"/>
              <a:t> </a:t>
            </a:r>
            <a:r>
              <a:rPr lang="en-US" dirty="0" err="1"/>
              <a:t>onda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otvoriti</a:t>
            </a:r>
            <a:r>
              <a:rPr lang="en-US" dirty="0"/>
              <a:t> u </a:t>
            </a:r>
            <a:r>
              <a:rPr lang="en-US" dirty="0" err="1"/>
              <a:t>drugom</a:t>
            </a:r>
            <a:r>
              <a:rPr lang="en-US" dirty="0"/>
              <a:t> </a:t>
            </a:r>
            <a:r>
              <a:rPr lang="en-US" dirty="0" err="1"/>
              <a:t>programu</a:t>
            </a:r>
            <a:r>
              <a:rPr lang="en-US" dirty="0"/>
              <a:t> </a:t>
            </a:r>
          </a:p>
          <a:p>
            <a:r>
              <a:rPr lang="en-US" dirty="0"/>
              <a:t>PBR </a:t>
            </a:r>
            <a:r>
              <a:rPr lang="en-US" dirty="0" err="1"/>
              <a:t>materijali</a:t>
            </a:r>
            <a:r>
              <a:rPr lang="en-US" dirty="0"/>
              <a:t> </a:t>
            </a:r>
            <a:r>
              <a:rPr lang="en-US" dirty="0" err="1"/>
              <a:t>pravila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izgleda</a:t>
            </a:r>
            <a:r>
              <a:rPr lang="en-US" dirty="0"/>
              <a:t> </a:t>
            </a:r>
            <a:r>
              <a:rPr lang="en-US" dirty="0" err="1"/>
              <a:t>površina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je </a:t>
            </a:r>
            <a:r>
              <a:rPr lang="en-US" dirty="0" err="1"/>
              <a:t>naziv</a:t>
            </a:r>
            <a:r>
              <a:rPr lang="en-US" dirty="0"/>
              <a:t> </a:t>
            </a:r>
            <a:r>
              <a:rPr lang="en-US" dirty="0" err="1"/>
              <a:t>shadera</a:t>
            </a:r>
            <a:r>
              <a:rPr lang="en-US" dirty="0"/>
              <a:t> (</a:t>
            </a:r>
            <a:r>
              <a:rPr lang="en-US" dirty="0" err="1"/>
              <a:t>materijala</a:t>
            </a:r>
            <a:r>
              <a:rPr lang="en-US" dirty="0"/>
              <a:t>) blender -&gt; </a:t>
            </a:r>
            <a:r>
              <a:rPr lang="en-US" dirty="0" err="1"/>
              <a:t>godot</a:t>
            </a:r>
            <a:r>
              <a:rPr lang="en-US" dirty="0"/>
              <a:t> (metallic/roughness </a:t>
            </a:r>
            <a:r>
              <a:rPr lang="en-US" dirty="0" err="1"/>
              <a:t>parametri</a:t>
            </a:r>
            <a:r>
              <a:rPr lang="en-US" dirty="0"/>
              <a:t>), pa se </a:t>
            </a:r>
            <a:r>
              <a:rPr lang="en-US" dirty="0" err="1"/>
              <a:t>prenese</a:t>
            </a:r>
            <a:r>
              <a:rPr lang="en-US" dirty="0"/>
              <a:t> bez </a:t>
            </a:r>
            <a:r>
              <a:rPr lang="en-US" dirty="0" err="1"/>
              <a:t>potrebe</a:t>
            </a:r>
            <a:r>
              <a:rPr lang="en-US" dirty="0"/>
              <a:t> za "</a:t>
            </a:r>
            <a:r>
              <a:rPr lang="en-US" dirty="0" err="1"/>
              <a:t>prevođenjem</a:t>
            </a:r>
            <a:r>
              <a:rPr lang="en-US" dirty="0"/>
              <a:t>"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jednog</a:t>
            </a:r>
            <a:r>
              <a:rPr lang="en-US" dirty="0"/>
              <a:t> </a:t>
            </a:r>
            <a:r>
              <a:rPr lang="en-US" dirty="0" err="1"/>
              <a:t>sustava</a:t>
            </a:r>
            <a:r>
              <a:rPr lang="en-US" dirty="0"/>
              <a:t> u </a:t>
            </a:r>
            <a:r>
              <a:rPr lang="en-US" dirty="0" err="1"/>
              <a:t>drugi</a:t>
            </a:r>
            <a:r>
              <a:rPr lang="en-US" dirty="0"/>
              <a:t>.</a:t>
            </a:r>
          </a:p>
          <a:p>
            <a:r>
              <a:rPr lang="en-US" dirty="0" err="1"/>
              <a:t>Proceduralni</a:t>
            </a:r>
            <a:r>
              <a:rPr lang="en-US" dirty="0"/>
              <a:t> </a:t>
            </a:r>
            <a:r>
              <a:rPr lang="en-US" dirty="0" err="1"/>
              <a:t>materijali</a:t>
            </a:r>
            <a:r>
              <a:rPr lang="en-US" dirty="0"/>
              <a:t> </a:t>
            </a:r>
            <a:r>
              <a:rPr lang="en-US" dirty="0" err="1"/>
              <a:t>zapečen</a:t>
            </a:r>
            <a:r>
              <a:rPr lang="en-US" dirty="0"/>
              <a:t> → </a:t>
            </a:r>
            <a:r>
              <a:rPr lang="en-US" dirty="0" err="1"/>
              <a:t>ovo</a:t>
            </a:r>
            <a:r>
              <a:rPr lang="en-US" dirty="0"/>
              <a:t> je </a:t>
            </a:r>
            <a:r>
              <a:rPr lang="en-US" dirty="0" err="1"/>
              <a:t>isti</a:t>
            </a:r>
            <a:r>
              <a:rPr lang="en-US" dirty="0"/>
              <a:t> bake </a:t>
            </a:r>
            <a:r>
              <a:rPr lang="en-US" dirty="0" err="1"/>
              <a:t>koncept</a:t>
            </a:r>
            <a:r>
              <a:rPr lang="en-US" dirty="0"/>
              <a:t> koji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pričali</a:t>
            </a:r>
            <a:r>
              <a:rPr lang="en-US" dirty="0"/>
              <a:t> (</a:t>
            </a:r>
            <a:r>
              <a:rPr lang="en-US" dirty="0" err="1"/>
              <a:t>kod</a:t>
            </a:r>
            <a:r>
              <a:rPr lang="en-US" dirty="0"/>
              <a:t> </a:t>
            </a:r>
            <a:r>
              <a:rPr lang="en-US" dirty="0" err="1"/>
              <a:t>tekstura</a:t>
            </a:r>
            <a:r>
              <a:rPr lang="en-US" dirty="0"/>
              <a:t> </a:t>
            </a:r>
            <a:r>
              <a:rPr lang="en-US" dirty="0" err="1"/>
              <a:t>kamena</a:t>
            </a:r>
            <a:r>
              <a:rPr lang="en-US" dirty="0"/>
              <a:t> —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primijenjen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tri </a:t>
            </a:r>
            <a:r>
              <a:rPr lang="en-US" dirty="0" err="1"/>
              <a:t>konkretne</a:t>
            </a:r>
            <a:r>
              <a:rPr lang="en-US" dirty="0"/>
              <a:t> </a:t>
            </a:r>
            <a:r>
              <a:rPr lang="en-US" dirty="0" err="1"/>
              <a:t>slike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izlaze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tog </a:t>
            </a:r>
            <a:r>
              <a:rPr lang="en-US" dirty="0" err="1"/>
              <a:t>pečenja</a:t>
            </a:r>
            <a:r>
              <a:rPr lang="en-US" dirty="0"/>
              <a:t>: </a:t>
            </a:r>
            <a:r>
              <a:rPr lang="en-US" dirty="0" err="1"/>
              <a:t>obična</a:t>
            </a:r>
            <a:r>
              <a:rPr lang="en-US" dirty="0"/>
              <a:t> </a:t>
            </a:r>
            <a:r>
              <a:rPr lang="en-US" dirty="0" err="1"/>
              <a:t>boja</a:t>
            </a:r>
            <a:r>
              <a:rPr lang="en-US" dirty="0"/>
              <a:t>, normal </a:t>
            </a:r>
            <a:r>
              <a:rPr lang="en-US" dirty="0" err="1"/>
              <a:t>mapa</a:t>
            </a:r>
            <a:r>
              <a:rPr lang="en-US" dirty="0"/>
              <a:t> (</a:t>
            </a:r>
            <a:r>
              <a:rPr lang="en-US" dirty="0" err="1"/>
              <a:t>detalj</a:t>
            </a:r>
            <a:r>
              <a:rPr lang="en-US" dirty="0"/>
              <a:t>/</a:t>
            </a:r>
            <a:r>
              <a:rPr lang="en-US" dirty="0" err="1"/>
              <a:t>neravnine</a:t>
            </a:r>
            <a:r>
              <a:rPr lang="en-US" dirty="0"/>
              <a:t>), </a:t>
            </a:r>
            <a:r>
              <a:rPr lang="en-US" dirty="0" err="1"/>
              <a:t>i</a:t>
            </a:r>
            <a:r>
              <a:rPr lang="en-US" dirty="0"/>
              <a:t> ORM (</a:t>
            </a:r>
            <a:r>
              <a:rPr lang="en-US" dirty="0" err="1"/>
              <a:t>jedna</a:t>
            </a:r>
            <a:r>
              <a:rPr lang="en-US" dirty="0"/>
              <a:t> </a:t>
            </a:r>
            <a:r>
              <a:rPr lang="en-US" dirty="0" err="1"/>
              <a:t>slika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pakira</a:t>
            </a:r>
            <a:r>
              <a:rPr lang="en-US" dirty="0"/>
              <a:t> tri </a:t>
            </a:r>
            <a:r>
              <a:rPr lang="en-US" dirty="0" err="1"/>
              <a:t>stvari</a:t>
            </a:r>
            <a:r>
              <a:rPr lang="en-US" dirty="0"/>
              <a:t> u tri </a:t>
            </a:r>
            <a:r>
              <a:rPr lang="en-US" dirty="0" err="1"/>
              <a:t>kanala</a:t>
            </a:r>
            <a:r>
              <a:rPr lang="en-US" dirty="0"/>
              <a:t> </a:t>
            </a:r>
            <a:r>
              <a:rPr lang="en-US" dirty="0" err="1"/>
              <a:t>boje</a:t>
            </a:r>
            <a:r>
              <a:rPr lang="en-US" dirty="0"/>
              <a:t> - </a:t>
            </a:r>
            <a:r>
              <a:rPr lang="en-US" dirty="0" err="1"/>
              <a:t>okluziju</a:t>
            </a:r>
            <a:r>
              <a:rPr lang="en-US" dirty="0"/>
              <a:t>/</a:t>
            </a:r>
            <a:r>
              <a:rPr lang="en-US" dirty="0" err="1"/>
              <a:t>hrapavost</a:t>
            </a:r>
            <a:r>
              <a:rPr lang="en-US" dirty="0"/>
              <a:t>/</a:t>
            </a:r>
            <a:r>
              <a:rPr lang="en-US" dirty="0" err="1"/>
              <a:t>metalnost</a:t>
            </a:r>
            <a:r>
              <a:rPr lang="en-US" dirty="0"/>
              <a:t> </a:t>
            </a:r>
            <a:r>
              <a:rPr lang="en-US" dirty="0" err="1"/>
              <a:t>zajedno</a:t>
            </a:r>
            <a:r>
              <a:rPr lang="en-US" dirty="0"/>
              <a:t>, da se </a:t>
            </a:r>
            <a:r>
              <a:rPr lang="en-US" dirty="0" err="1"/>
              <a:t>štedi</a:t>
            </a:r>
            <a:r>
              <a:rPr lang="en-US" dirty="0"/>
              <a:t> </a:t>
            </a:r>
            <a:r>
              <a:rPr lang="en-US" dirty="0" err="1"/>
              <a:t>memorija</a:t>
            </a:r>
            <a:r>
              <a:rPr lang="en-US" dirty="0"/>
              <a:t>)</a:t>
            </a:r>
          </a:p>
          <a:p>
            <a:r>
              <a:rPr lang="en-US" dirty="0"/>
              <a:t>vertex </a:t>
            </a:r>
            <a:r>
              <a:rPr lang="en-US" dirty="0" err="1"/>
              <a:t>boja</a:t>
            </a:r>
            <a:r>
              <a:rPr lang="en-US" dirty="0"/>
              <a:t> </a:t>
            </a:r>
            <a:r>
              <a:rPr lang="en-US" dirty="0" err="1"/>
              <a:t>govori</a:t>
            </a:r>
            <a:r>
              <a:rPr lang="en-US" dirty="0"/>
              <a:t> </a:t>
            </a:r>
            <a:r>
              <a:rPr lang="en-US" dirty="0" err="1"/>
              <a:t>gdje</a:t>
            </a:r>
            <a:r>
              <a:rPr lang="en-US" dirty="0"/>
              <a:t> ide </a:t>
            </a:r>
            <a:r>
              <a:rPr lang="en-US" dirty="0" err="1"/>
              <a:t>mahovina</a:t>
            </a:r>
            <a:r>
              <a:rPr lang="en-US" dirty="0"/>
              <a:t>, a </a:t>
            </a:r>
            <a:r>
              <a:rPr lang="en-US" dirty="0" err="1"/>
              <a:t>triplanarno</a:t>
            </a:r>
            <a:r>
              <a:rPr lang="en-US" dirty="0"/>
              <a:t> </a:t>
            </a:r>
            <a:r>
              <a:rPr lang="en-US" dirty="0" err="1"/>
              <a:t>projiciranje</a:t>
            </a:r>
            <a:r>
              <a:rPr lang="en-US" dirty="0"/>
              <a:t> je </a:t>
            </a:r>
            <a:r>
              <a:rPr lang="en-US" dirty="0" err="1"/>
              <a:t>kako</a:t>
            </a:r>
            <a:r>
              <a:rPr lang="en-US" dirty="0"/>
              <a:t> se </a:t>
            </a:r>
            <a:r>
              <a:rPr lang="en-US" dirty="0" err="1"/>
              <a:t>sama</a:t>
            </a:r>
            <a:r>
              <a:rPr lang="en-US" dirty="0"/>
              <a:t> </a:t>
            </a:r>
            <a:r>
              <a:rPr lang="en-US" dirty="0" err="1"/>
              <a:t>zelena</a:t>
            </a:r>
            <a:r>
              <a:rPr lang="en-US" dirty="0"/>
              <a:t> </a:t>
            </a:r>
            <a:r>
              <a:rPr lang="en-US" dirty="0" err="1"/>
              <a:t>tekstura</a:t>
            </a:r>
            <a:r>
              <a:rPr lang="en-US" dirty="0"/>
              <a:t> </a:t>
            </a:r>
            <a:r>
              <a:rPr lang="en-US" dirty="0" err="1"/>
              <a:t>mahovine</a:t>
            </a:r>
            <a:r>
              <a:rPr lang="en-US" dirty="0"/>
              <a:t> "</a:t>
            </a:r>
            <a:r>
              <a:rPr lang="en-US" dirty="0" err="1"/>
              <a:t>lijepi</a:t>
            </a:r>
            <a:r>
              <a:rPr lang="en-US" dirty="0"/>
              <a:t>" </a:t>
            </a:r>
            <a:r>
              <a:rPr lang="en-US" dirty="0" err="1"/>
              <a:t>na</a:t>
            </a:r>
            <a:r>
              <a:rPr lang="en-US" dirty="0"/>
              <a:t> to (</a:t>
            </a:r>
            <a:r>
              <a:rPr lang="en-US" dirty="0" err="1"/>
              <a:t>iz</a:t>
            </a:r>
            <a:r>
              <a:rPr lang="en-US" dirty="0"/>
              <a:t> tri </a:t>
            </a:r>
            <a:r>
              <a:rPr lang="en-US" dirty="0" err="1"/>
              <a:t>smjera</a:t>
            </a:r>
            <a:r>
              <a:rPr lang="en-US" dirty="0"/>
              <a:t> </a:t>
            </a:r>
            <a:r>
              <a:rPr lang="en-US" dirty="0" err="1"/>
              <a:t>odjednom</a:t>
            </a:r>
            <a:r>
              <a:rPr lang="en-US" dirty="0"/>
              <a:t>, </a:t>
            </a:r>
            <a:r>
              <a:rPr lang="en-US" dirty="0" err="1"/>
              <a:t>umjesto</a:t>
            </a:r>
            <a:r>
              <a:rPr lang="en-US" dirty="0"/>
              <a:t> </a:t>
            </a:r>
            <a:r>
              <a:rPr lang="en-US" dirty="0" err="1"/>
              <a:t>klasičnog</a:t>
            </a:r>
            <a:r>
              <a:rPr lang="en-US" dirty="0"/>
              <a:t> UV-a, da </a:t>
            </a:r>
            <a:r>
              <a:rPr lang="en-US" dirty="0" err="1"/>
              <a:t>nema</a:t>
            </a:r>
            <a:r>
              <a:rPr lang="en-US" dirty="0"/>
              <a:t> </a:t>
            </a:r>
            <a:r>
              <a:rPr lang="en-US" dirty="0" err="1"/>
              <a:t>šavova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neravnom</a:t>
            </a:r>
            <a:r>
              <a:rPr lang="en-US" dirty="0"/>
              <a:t> </a:t>
            </a:r>
            <a:r>
              <a:rPr lang="en-US" dirty="0" err="1"/>
              <a:t>kamenu</a:t>
            </a:r>
            <a:r>
              <a:rPr lang="en-US" dirty="0"/>
              <a:t>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CharacterBody3D — to je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naziv</a:t>
            </a:r>
            <a:r>
              <a:rPr lang="en-US" dirty="0"/>
              <a:t> "</a:t>
            </a:r>
            <a:r>
              <a:rPr lang="en-US" dirty="0" err="1"/>
              <a:t>tipa</a:t>
            </a:r>
            <a:r>
              <a:rPr lang="en-US" dirty="0"/>
              <a:t> </a:t>
            </a:r>
            <a:r>
              <a:rPr lang="en-US" dirty="0" err="1"/>
              <a:t>objekta</a:t>
            </a:r>
            <a:r>
              <a:rPr lang="en-US" dirty="0"/>
              <a:t>" u </a:t>
            </a:r>
            <a:r>
              <a:rPr lang="en-US" dirty="0" err="1"/>
              <a:t>Godotu</a:t>
            </a:r>
            <a:r>
              <a:rPr lang="en-US" dirty="0"/>
              <a:t> koji </a:t>
            </a:r>
            <a:r>
              <a:rPr lang="en-US" dirty="0" err="1"/>
              <a:t>koristiš</a:t>
            </a:r>
            <a:r>
              <a:rPr lang="en-US" dirty="0"/>
              <a:t> </a:t>
            </a:r>
            <a:r>
              <a:rPr lang="en-US" dirty="0" err="1"/>
              <a:t>kad</a:t>
            </a:r>
            <a:r>
              <a:rPr lang="en-US" dirty="0"/>
              <a:t> </a:t>
            </a:r>
            <a:r>
              <a:rPr lang="en-US" dirty="0" err="1"/>
              <a:t>želiš</a:t>
            </a:r>
            <a:r>
              <a:rPr lang="en-US" dirty="0"/>
              <a:t> da </a:t>
            </a:r>
            <a:r>
              <a:rPr lang="en-US" dirty="0" err="1"/>
              <a:t>nešto</a:t>
            </a:r>
            <a:r>
              <a:rPr lang="en-US" dirty="0"/>
              <a:t> </a:t>
            </a:r>
            <a:r>
              <a:rPr lang="en-US" dirty="0" err="1"/>
              <a:t>hoda</a:t>
            </a:r>
            <a:r>
              <a:rPr lang="en-US" dirty="0"/>
              <a:t> po </a:t>
            </a:r>
            <a:r>
              <a:rPr lang="en-US" dirty="0" err="1"/>
              <a:t>sceni</a:t>
            </a:r>
            <a:endParaRPr lang="en-US" dirty="0"/>
          </a:p>
          <a:p>
            <a:r>
              <a:rPr lang="en-US" dirty="0" err="1"/>
              <a:t>Kapsulasti</a:t>
            </a:r>
            <a:r>
              <a:rPr lang="en-US" dirty="0"/>
              <a:t> </a:t>
            </a:r>
            <a:r>
              <a:rPr lang="en-US" dirty="0" err="1"/>
              <a:t>kolajder</a:t>
            </a:r>
            <a:r>
              <a:rPr lang="en-US" dirty="0"/>
              <a:t> — </a:t>
            </a:r>
            <a:r>
              <a:rPr lang="en-US" dirty="0" err="1"/>
              <a:t>igrač</a:t>
            </a:r>
            <a:r>
              <a:rPr lang="en-US" dirty="0"/>
              <a:t> u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smislu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"</a:t>
            </a:r>
            <a:r>
              <a:rPr lang="en-US" dirty="0" err="1"/>
              <a:t>cijeli</a:t>
            </a:r>
            <a:r>
              <a:rPr lang="en-US" dirty="0"/>
              <a:t> </a:t>
            </a:r>
            <a:r>
              <a:rPr lang="en-US" dirty="0" err="1"/>
              <a:t>detaljan</a:t>
            </a:r>
            <a:r>
              <a:rPr lang="en-US" dirty="0"/>
              <a:t> </a:t>
            </a:r>
            <a:r>
              <a:rPr lang="en-US" dirty="0" err="1"/>
              <a:t>lik</a:t>
            </a:r>
            <a:r>
              <a:rPr lang="en-US" dirty="0"/>
              <a:t>", </a:t>
            </a:r>
            <a:r>
              <a:rPr lang="en-US" dirty="0" err="1"/>
              <a:t>nego</a:t>
            </a:r>
            <a:r>
              <a:rPr lang="en-US" dirty="0"/>
              <a:t> je </a:t>
            </a:r>
            <a:r>
              <a:rPr lang="en-US" dirty="0" err="1"/>
              <a:t>zamijenjen</a:t>
            </a:r>
            <a:r>
              <a:rPr lang="en-US" dirty="0"/>
              <a:t> </a:t>
            </a:r>
            <a:r>
              <a:rPr lang="en-US" dirty="0" err="1"/>
              <a:t>kapsulom</a:t>
            </a:r>
            <a:r>
              <a:rPr lang="en-US" dirty="0"/>
              <a:t> — to je taj "</a:t>
            </a:r>
            <a:r>
              <a:rPr lang="en-US" dirty="0" err="1"/>
              <a:t>nevidljivi</a:t>
            </a:r>
            <a:r>
              <a:rPr lang="en-US" dirty="0"/>
              <a:t> </a:t>
            </a:r>
            <a:r>
              <a:rPr lang="en-US" dirty="0" err="1"/>
              <a:t>oblik</a:t>
            </a:r>
            <a:r>
              <a:rPr lang="en-US" dirty="0"/>
              <a:t>" koji </a:t>
            </a:r>
            <a:r>
              <a:rPr lang="en-US" dirty="0" err="1"/>
              <a:t>fizika</a:t>
            </a:r>
            <a:r>
              <a:rPr lang="en-US" dirty="0"/>
              <a:t> </a:t>
            </a:r>
            <a:r>
              <a:rPr lang="en-US" dirty="0" err="1"/>
              <a:t>koristi</a:t>
            </a:r>
            <a:r>
              <a:rPr lang="en-US" dirty="0"/>
              <a:t> da </a:t>
            </a:r>
            <a:r>
              <a:rPr lang="en-US" dirty="0" err="1"/>
              <a:t>zna</a:t>
            </a:r>
            <a:r>
              <a:rPr lang="en-US" dirty="0"/>
              <a:t> </a:t>
            </a:r>
            <a:r>
              <a:rPr lang="en-US" dirty="0" err="1"/>
              <a:t>gdje</a:t>
            </a:r>
            <a:r>
              <a:rPr lang="en-US" dirty="0"/>
              <a:t> </a:t>
            </a:r>
            <a:r>
              <a:rPr lang="en-US" dirty="0" err="1"/>
              <a:t>si</a:t>
            </a:r>
            <a:endParaRPr lang="en-US" dirty="0"/>
          </a:p>
          <a:p>
            <a:r>
              <a:rPr lang="en-US" dirty="0"/>
              <a:t>Yaw/pitch </a:t>
            </a:r>
            <a:r>
              <a:rPr lang="en-US" dirty="0" err="1"/>
              <a:t>odvojen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tijelo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glavu</a:t>
            </a:r>
            <a:r>
              <a:rPr lang="en-US" dirty="0"/>
              <a:t> — yaw je </a:t>
            </a:r>
            <a:r>
              <a:rPr lang="en-US" dirty="0" err="1"/>
              <a:t>okretanje</a:t>
            </a:r>
            <a:r>
              <a:rPr lang="en-US" dirty="0"/>
              <a:t> </a:t>
            </a:r>
            <a:r>
              <a:rPr lang="en-US" dirty="0" err="1"/>
              <a:t>lijevo-desno</a:t>
            </a:r>
            <a:r>
              <a:rPr lang="en-US" dirty="0"/>
              <a:t> (</a:t>
            </a:r>
            <a:r>
              <a:rPr lang="en-US" dirty="0" err="1"/>
              <a:t>kao</a:t>
            </a:r>
            <a:r>
              <a:rPr lang="en-US" dirty="0"/>
              <a:t> da se </a:t>
            </a:r>
            <a:r>
              <a:rPr lang="en-US" dirty="0" err="1"/>
              <a:t>okrećeš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stolici</a:t>
            </a:r>
            <a:r>
              <a:rPr lang="en-US" dirty="0"/>
              <a:t>), pitch je </a:t>
            </a:r>
            <a:r>
              <a:rPr lang="en-US" dirty="0" err="1"/>
              <a:t>gledanje</a:t>
            </a:r>
            <a:r>
              <a:rPr lang="en-US" dirty="0"/>
              <a:t> gore-</a:t>
            </a:r>
            <a:r>
              <a:rPr lang="en-US" dirty="0" err="1"/>
              <a:t>dolje</a:t>
            </a:r>
            <a:r>
              <a:rPr lang="en-US" dirty="0"/>
              <a:t> (</a:t>
            </a:r>
            <a:r>
              <a:rPr lang="en-US" dirty="0" err="1"/>
              <a:t>kimanje</a:t>
            </a:r>
            <a:r>
              <a:rPr lang="en-US" dirty="0"/>
              <a:t> </a:t>
            </a:r>
            <a:r>
              <a:rPr lang="en-US" dirty="0" err="1"/>
              <a:t>glavom</a:t>
            </a:r>
            <a:r>
              <a:rPr lang="en-US" dirty="0"/>
              <a:t>). </a:t>
            </a:r>
            <a:r>
              <a:rPr lang="en-US" dirty="0" err="1"/>
              <a:t>počela</a:t>
            </a:r>
            <a:r>
              <a:rPr lang="en-US" dirty="0"/>
              <a:t> bi se </a:t>
            </a:r>
            <a:r>
              <a:rPr lang="en-US" dirty="0" err="1"/>
              <a:t>naginjati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da pada — a mi </a:t>
            </a:r>
            <a:r>
              <a:rPr lang="en-US" dirty="0" err="1"/>
              <a:t>hoćemo</a:t>
            </a:r>
            <a:r>
              <a:rPr lang="en-US" dirty="0"/>
              <a:t> da </a:t>
            </a:r>
            <a:r>
              <a:rPr lang="en-US" dirty="0" err="1"/>
              <a:t>tijelo</a:t>
            </a:r>
            <a:r>
              <a:rPr lang="en-US" dirty="0"/>
              <a:t> </a:t>
            </a:r>
            <a:r>
              <a:rPr lang="en-US" dirty="0" err="1"/>
              <a:t>uvijek</a:t>
            </a:r>
            <a:r>
              <a:rPr lang="en-US" dirty="0"/>
              <a:t> </a:t>
            </a:r>
            <a:r>
              <a:rPr lang="en-US" dirty="0" err="1"/>
              <a:t>stoji</a:t>
            </a:r>
            <a:r>
              <a:rPr lang="en-US" dirty="0"/>
              <a:t> </a:t>
            </a:r>
            <a:r>
              <a:rPr lang="en-US" dirty="0" err="1"/>
              <a:t>uspravno</a:t>
            </a:r>
            <a:endParaRPr lang="en-US" dirty="0"/>
          </a:p>
          <a:p>
            <a:r>
              <a:rPr lang="en-US" dirty="0"/>
              <a:t>Jolt physics — to je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ime</a:t>
            </a:r>
            <a:r>
              <a:rPr lang="en-US" dirty="0"/>
              <a:t> "</a:t>
            </a:r>
            <a:r>
              <a:rPr lang="en-US" dirty="0" err="1"/>
              <a:t>motora</a:t>
            </a:r>
            <a:r>
              <a:rPr lang="en-US" dirty="0"/>
              <a:t>" (</a:t>
            </a:r>
            <a:r>
              <a:rPr lang="en-US" dirty="0" err="1"/>
              <a:t>fizičkog</a:t>
            </a:r>
            <a:r>
              <a:rPr lang="en-US" dirty="0"/>
              <a:t> engine-a) koji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koristili</a:t>
            </a:r>
            <a:r>
              <a:rPr lang="en-US" dirty="0"/>
              <a:t> </a:t>
            </a:r>
            <a:r>
              <a:rPr lang="en-US" dirty="0" err="1"/>
              <a:t>umjesto</a:t>
            </a:r>
            <a:r>
              <a:rPr lang="en-US" dirty="0"/>
              <a:t> </a:t>
            </a:r>
            <a:r>
              <a:rPr lang="en-US" dirty="0" err="1"/>
              <a:t>Godotovog</a:t>
            </a:r>
            <a:r>
              <a:rPr lang="en-US" dirty="0"/>
              <a:t> </a:t>
            </a:r>
            <a:r>
              <a:rPr lang="en-US" dirty="0" err="1"/>
              <a:t>defaultnog</a:t>
            </a:r>
            <a:r>
              <a:rPr lang="en-US" dirty="0"/>
              <a:t> — </a:t>
            </a:r>
            <a:r>
              <a:rPr lang="en-US" dirty="0" err="1"/>
              <a:t>bolji</a:t>
            </a:r>
            <a:r>
              <a:rPr lang="en-US" dirty="0"/>
              <a:t> je za </a:t>
            </a:r>
            <a:r>
              <a:rPr lang="en-US" dirty="0" err="1"/>
              <a:t>glatko</a:t>
            </a:r>
            <a:r>
              <a:rPr lang="en-US" dirty="0"/>
              <a:t> </a:t>
            </a:r>
            <a:r>
              <a:rPr lang="en-US" dirty="0" err="1"/>
              <a:t>hodanje</a:t>
            </a:r>
            <a:r>
              <a:rPr lang="en-US" dirty="0"/>
              <a:t> po </a:t>
            </a:r>
            <a:r>
              <a:rPr lang="en-US" dirty="0" err="1"/>
              <a:t>neravnom</a:t>
            </a:r>
            <a:r>
              <a:rPr lang="en-US" dirty="0"/>
              <a:t> </a:t>
            </a:r>
            <a:r>
              <a:rPr lang="en-US" dirty="0" err="1"/>
              <a:t>kamenu</a:t>
            </a:r>
            <a:endParaRPr lang="en-US" dirty="0"/>
          </a:p>
          <a:p>
            <a:r>
              <a:rPr lang="en-US" dirty="0"/>
              <a:t>RigidBody3D — </a:t>
            </a:r>
            <a:r>
              <a:rPr lang="en-US" dirty="0" err="1"/>
              <a:t>ovo</a:t>
            </a:r>
            <a:r>
              <a:rPr lang="en-US" dirty="0"/>
              <a:t> je </a:t>
            </a:r>
            <a:r>
              <a:rPr lang="en-US" dirty="0" err="1"/>
              <a:t>suprotno</a:t>
            </a:r>
            <a:r>
              <a:rPr lang="en-US" dirty="0"/>
              <a:t> od </a:t>
            </a:r>
            <a:r>
              <a:rPr lang="en-US" dirty="0" err="1"/>
              <a:t>igrača</a:t>
            </a:r>
            <a:r>
              <a:rPr lang="en-US" dirty="0"/>
              <a:t>: </a:t>
            </a:r>
            <a:r>
              <a:rPr lang="en-US" dirty="0" err="1"/>
              <a:t>objekt</a:t>
            </a:r>
            <a:r>
              <a:rPr lang="en-US" dirty="0"/>
              <a:t> koji </a:t>
            </a:r>
            <a:r>
              <a:rPr lang="en-US" dirty="0" err="1"/>
              <a:t>stvarno</a:t>
            </a:r>
            <a:r>
              <a:rPr lang="en-US" dirty="0"/>
              <a:t> </a:t>
            </a:r>
            <a:r>
              <a:rPr lang="en-US" dirty="0" err="1"/>
              <a:t>reagira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fiziku</a:t>
            </a:r>
            <a:r>
              <a:rPr lang="en-US" dirty="0"/>
              <a:t> (</a:t>
            </a:r>
            <a:r>
              <a:rPr lang="en-US" dirty="0" err="1"/>
              <a:t>gravitacija</a:t>
            </a:r>
            <a:r>
              <a:rPr lang="en-US" dirty="0"/>
              <a:t>, </a:t>
            </a:r>
            <a:r>
              <a:rPr lang="en-US" dirty="0" err="1"/>
              <a:t>sudari</a:t>
            </a:r>
            <a:r>
              <a:rPr lang="en-US" dirty="0"/>
              <a:t>, </a:t>
            </a:r>
            <a:r>
              <a:rPr lang="en-US" dirty="0" err="1"/>
              <a:t>odskakivanje</a:t>
            </a:r>
            <a:r>
              <a:rPr lang="en-US" dirty="0"/>
              <a:t>), </a:t>
            </a:r>
            <a:r>
              <a:rPr lang="en-US" dirty="0" err="1"/>
              <a:t>kamen</a:t>
            </a:r>
            <a:r>
              <a:rPr lang="en-US" dirty="0"/>
              <a:t> </a:t>
            </a:r>
            <a:r>
              <a:rPr lang="en-US" dirty="0" err="1"/>
              <a:t>leti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stvaran</a:t>
            </a:r>
            <a:r>
              <a:rPr lang="en-US" dirty="0"/>
              <a:t> </a:t>
            </a:r>
            <a:r>
              <a:rPr lang="en-US" dirty="0" err="1"/>
              <a:t>kamen</a:t>
            </a:r>
            <a:r>
              <a:rPr lang="en-US" dirty="0"/>
              <a:t>: parabola</a:t>
            </a:r>
          </a:p>
          <a:p>
            <a:r>
              <a:rPr lang="en-US" dirty="0"/>
              <a:t>Area3D — </a:t>
            </a:r>
            <a:r>
              <a:rPr lang="en-US" dirty="0" err="1"/>
              <a:t>ovo</a:t>
            </a:r>
            <a:r>
              <a:rPr lang="en-US" dirty="0"/>
              <a:t> je </a:t>
            </a:r>
            <a:r>
              <a:rPr lang="en-US" dirty="0" err="1"/>
              <a:t>nevidljiva</a:t>
            </a:r>
            <a:r>
              <a:rPr lang="en-US" dirty="0"/>
              <a:t> zona </a:t>
            </a:r>
            <a:r>
              <a:rPr lang="en-US" dirty="0" err="1"/>
              <a:t>koja</a:t>
            </a:r>
            <a:r>
              <a:rPr lang="en-US" dirty="0"/>
              <a:t> ne "</a:t>
            </a:r>
            <a:r>
              <a:rPr lang="en-US" dirty="0" err="1"/>
              <a:t>blokira</a:t>
            </a:r>
            <a:r>
              <a:rPr lang="en-US" dirty="0"/>
              <a:t>" </a:t>
            </a:r>
            <a:r>
              <a:rPr lang="en-US" dirty="0" err="1"/>
              <a:t>ništa</a:t>
            </a:r>
            <a:r>
              <a:rPr lang="en-US" dirty="0"/>
              <a:t>, </a:t>
            </a:r>
            <a:r>
              <a:rPr lang="en-US" dirty="0" err="1"/>
              <a:t>nego</a:t>
            </a:r>
            <a:r>
              <a:rPr lang="en-US" dirty="0"/>
              <a:t> </a:t>
            </a:r>
            <a:r>
              <a:rPr lang="en-US" dirty="0" err="1"/>
              <a:t>samo</a:t>
            </a:r>
            <a:r>
              <a:rPr lang="en-US" dirty="0"/>
              <a:t> </a:t>
            </a:r>
            <a:r>
              <a:rPr lang="en-US" dirty="0" err="1"/>
              <a:t>primijeti</a:t>
            </a:r>
            <a:r>
              <a:rPr lang="en-US" dirty="0"/>
              <a:t> </a:t>
            </a:r>
            <a:r>
              <a:rPr lang="en-US" dirty="0" err="1"/>
              <a:t>kad</a:t>
            </a:r>
            <a:r>
              <a:rPr lang="en-US" dirty="0"/>
              <a:t> </a:t>
            </a:r>
            <a:r>
              <a:rPr lang="en-US" dirty="0" err="1"/>
              <a:t>nešto</a:t>
            </a:r>
            <a:r>
              <a:rPr lang="en-US" dirty="0"/>
              <a:t> </a:t>
            </a:r>
            <a:r>
              <a:rPr lang="en-US" dirty="0" err="1"/>
              <a:t>uđe</a:t>
            </a:r>
            <a:r>
              <a:rPr lang="en-US" dirty="0"/>
              <a:t> </a:t>
            </a:r>
            <a:r>
              <a:rPr lang="en-US" dirty="0" err="1"/>
              <a:t>unutra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offline render (Cycles) </a:t>
            </a:r>
            <a:r>
              <a:rPr lang="en-US" dirty="0" err="1"/>
              <a:t>i</a:t>
            </a:r>
            <a:r>
              <a:rPr lang="en-US" dirty="0"/>
              <a:t> real-time (Godot) </a:t>
            </a:r>
            <a:r>
              <a:rPr lang="en-US" dirty="0" err="1"/>
              <a:t>koriste</a:t>
            </a:r>
            <a:r>
              <a:rPr lang="en-US" dirty="0"/>
              <a:t> </a:t>
            </a:r>
            <a:r>
              <a:rPr lang="en-US" dirty="0" err="1"/>
              <a:t>isti</a:t>
            </a:r>
            <a:r>
              <a:rPr lang="en-US" dirty="0"/>
              <a:t> </a:t>
            </a:r>
            <a:r>
              <a:rPr lang="en-US" dirty="0" err="1"/>
              <a:t>recept</a:t>
            </a:r>
            <a:r>
              <a:rPr lang="en-US" dirty="0"/>
              <a:t> za </a:t>
            </a:r>
            <a:r>
              <a:rPr lang="en-US" dirty="0" err="1"/>
              <a:t>materijale</a:t>
            </a:r>
            <a:r>
              <a:rPr lang="en-US" dirty="0"/>
              <a:t> (PBR/metallic-roughness),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se </a:t>
            </a:r>
            <a:r>
              <a:rPr lang="en-US" dirty="0" err="1"/>
              <a:t>sve</a:t>
            </a:r>
            <a:r>
              <a:rPr lang="en-US" dirty="0"/>
              <a:t> </a:t>
            </a:r>
            <a:r>
              <a:rPr lang="en-US" dirty="0" err="1"/>
              <a:t>ostalo</a:t>
            </a:r>
            <a:r>
              <a:rPr lang="en-US" dirty="0"/>
              <a:t> </a:t>
            </a:r>
            <a:r>
              <a:rPr lang="en-US" dirty="0" err="1"/>
              <a:t>radi</a:t>
            </a:r>
            <a:r>
              <a:rPr lang="en-US" dirty="0"/>
              <a:t> (</a:t>
            </a:r>
            <a:r>
              <a:rPr lang="en-US" dirty="0" err="1"/>
              <a:t>rasvjeta</a:t>
            </a:r>
            <a:r>
              <a:rPr lang="en-US" dirty="0"/>
              <a:t>, </a:t>
            </a:r>
            <a:r>
              <a:rPr lang="en-US" dirty="0" err="1"/>
              <a:t>koliko</a:t>
            </a:r>
            <a:r>
              <a:rPr lang="en-US" dirty="0"/>
              <a:t> </a:t>
            </a:r>
            <a:r>
              <a:rPr lang="en-US" dirty="0" err="1"/>
              <a:t>detalja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geometrija</a:t>
            </a:r>
            <a:r>
              <a:rPr lang="en-US" dirty="0"/>
              <a:t>) mora </a:t>
            </a:r>
            <a:r>
              <a:rPr lang="en-US" dirty="0" err="1"/>
              <a:t>biti</a:t>
            </a:r>
            <a:r>
              <a:rPr lang="en-US" dirty="0"/>
              <a:t> </a:t>
            </a:r>
            <a:r>
              <a:rPr lang="en-US" dirty="0" err="1"/>
              <a:t>potpuno</a:t>
            </a:r>
            <a:r>
              <a:rPr lang="en-US" dirty="0"/>
              <a:t> </a:t>
            </a:r>
            <a:r>
              <a:rPr lang="en-US" dirty="0" err="1"/>
              <a:t>drugačiji</a:t>
            </a:r>
            <a:r>
              <a:rPr lang="en-US" dirty="0"/>
              <a:t> </a:t>
            </a:r>
            <a:r>
              <a:rPr lang="en-US" dirty="0" err="1"/>
              <a:t>čim</a:t>
            </a:r>
            <a:r>
              <a:rPr lang="en-US" dirty="0"/>
              <a:t> </a:t>
            </a:r>
            <a:r>
              <a:rPr lang="en-US" dirty="0" err="1"/>
              <a:t>ideš</a:t>
            </a:r>
            <a:r>
              <a:rPr lang="en-US" dirty="0"/>
              <a:t> u real-time. </a:t>
            </a:r>
          </a:p>
          <a:p>
            <a:r>
              <a:rPr lang="en-US" dirty="0"/>
              <a:t>LOD = Level of Detail — </a:t>
            </a:r>
            <a:r>
              <a:rPr lang="en-US" dirty="0" err="1"/>
              <a:t>trik</a:t>
            </a:r>
            <a:r>
              <a:rPr lang="en-US" dirty="0"/>
              <a:t> </a:t>
            </a:r>
            <a:r>
              <a:rPr lang="en-US" dirty="0" err="1"/>
              <a:t>gdje</a:t>
            </a:r>
            <a:r>
              <a:rPr lang="en-US" dirty="0"/>
              <a:t> </a:t>
            </a:r>
            <a:r>
              <a:rPr lang="en-US" dirty="0" err="1"/>
              <a:t>objekt</a:t>
            </a:r>
            <a:r>
              <a:rPr lang="en-US" dirty="0"/>
              <a:t> </a:t>
            </a:r>
            <a:r>
              <a:rPr lang="en-US" dirty="0" err="1"/>
              <a:t>daleko</a:t>
            </a:r>
            <a:r>
              <a:rPr lang="en-US" dirty="0"/>
              <a:t> od </a:t>
            </a:r>
            <a:r>
              <a:rPr lang="en-US" dirty="0" err="1"/>
              <a:t>kamere</a:t>
            </a:r>
            <a:r>
              <a:rPr lang="en-US" dirty="0"/>
              <a:t> </a:t>
            </a:r>
            <a:r>
              <a:rPr lang="en-US" dirty="0" err="1"/>
              <a:t>koristi</a:t>
            </a:r>
            <a:r>
              <a:rPr lang="en-US" dirty="0"/>
              <a:t> </a:t>
            </a:r>
            <a:r>
              <a:rPr lang="en-US" dirty="0" err="1"/>
              <a:t>jednostavniju</a:t>
            </a:r>
            <a:r>
              <a:rPr lang="en-US" dirty="0"/>
              <a:t> (</a:t>
            </a:r>
            <a:r>
              <a:rPr lang="en-US" dirty="0" err="1"/>
              <a:t>manje</a:t>
            </a:r>
            <a:r>
              <a:rPr lang="en-US" dirty="0"/>
              <a:t> </a:t>
            </a:r>
            <a:r>
              <a:rPr lang="en-US" dirty="0" err="1"/>
              <a:t>detalja</a:t>
            </a:r>
            <a:r>
              <a:rPr lang="en-US" dirty="0"/>
              <a:t>) </a:t>
            </a:r>
            <a:r>
              <a:rPr lang="en-US" dirty="0" err="1"/>
              <a:t>verziju</a:t>
            </a:r>
            <a:r>
              <a:rPr lang="en-US" dirty="0"/>
              <a:t>, a </a:t>
            </a:r>
            <a:r>
              <a:rPr lang="en-US" dirty="0" err="1"/>
              <a:t>blizu</a:t>
            </a:r>
            <a:r>
              <a:rPr lang="en-US" dirty="0"/>
              <a:t> </a:t>
            </a:r>
            <a:r>
              <a:rPr lang="en-US" dirty="0" err="1"/>
              <a:t>kamere</a:t>
            </a:r>
            <a:r>
              <a:rPr lang="en-US" dirty="0"/>
              <a:t> </a:t>
            </a:r>
            <a:r>
              <a:rPr lang="en-US" dirty="0" err="1"/>
              <a:t>koristi</a:t>
            </a:r>
            <a:r>
              <a:rPr lang="en-US" dirty="0"/>
              <a:t> </a:t>
            </a:r>
            <a:r>
              <a:rPr lang="en-US" dirty="0" err="1"/>
              <a:t>detaljniju</a:t>
            </a:r>
            <a:r>
              <a:rPr lang="en-US" dirty="0"/>
              <a:t> </a:t>
            </a:r>
            <a:r>
              <a:rPr lang="en-US" dirty="0" err="1"/>
              <a:t>verziju</a:t>
            </a:r>
            <a:r>
              <a:rPr lang="en-US" dirty="0"/>
              <a:t> —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nema</a:t>
            </a:r>
            <a:r>
              <a:rPr lang="en-US" dirty="0"/>
              <a:t> </a:t>
            </a:r>
            <a:r>
              <a:rPr lang="en-US" dirty="0" err="1"/>
              <a:t>smisla</a:t>
            </a:r>
            <a:r>
              <a:rPr lang="en-US" dirty="0"/>
              <a:t> </a:t>
            </a:r>
            <a:r>
              <a:rPr lang="en-US" dirty="0" err="1"/>
              <a:t>trošiti</a:t>
            </a:r>
            <a:r>
              <a:rPr lang="en-US" dirty="0"/>
              <a:t> </a:t>
            </a:r>
            <a:r>
              <a:rPr lang="en-US" dirty="0" err="1"/>
              <a:t>resurse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detalje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igrač</a:t>
            </a:r>
            <a:r>
              <a:rPr lang="en-US" dirty="0"/>
              <a:t> </a:t>
            </a:r>
            <a:r>
              <a:rPr lang="en-US" dirty="0" err="1"/>
              <a:t>ni</a:t>
            </a:r>
            <a:r>
              <a:rPr lang="en-US" dirty="0"/>
              <a:t> ne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izdaleka</a:t>
            </a:r>
            <a:r>
              <a:rPr lang="en-US" dirty="0"/>
              <a:t>. </a:t>
            </a:r>
            <a:r>
              <a:rPr lang="en-US" dirty="0" err="1"/>
              <a:t>Trenutno</a:t>
            </a:r>
            <a:r>
              <a:rPr lang="en-US" dirty="0"/>
              <a:t> </a:t>
            </a:r>
            <a:r>
              <a:rPr lang="en-US" dirty="0" err="1"/>
              <a:t>vegetacija</a:t>
            </a:r>
            <a:r>
              <a:rPr lang="en-US" dirty="0"/>
              <a:t> </a:t>
            </a:r>
            <a:r>
              <a:rPr lang="en-US" dirty="0" err="1"/>
              <a:t>nema</a:t>
            </a:r>
            <a:r>
              <a:rPr lang="en-US" dirty="0"/>
              <a:t> taj </a:t>
            </a:r>
            <a:r>
              <a:rPr lang="en-US" dirty="0" err="1"/>
              <a:t>trik</a:t>
            </a:r>
            <a:r>
              <a:rPr lang="en-US" dirty="0"/>
              <a:t> — </a:t>
            </a:r>
            <a:r>
              <a:rPr lang="en-US" dirty="0" err="1"/>
              <a:t>uvijek</a:t>
            </a:r>
            <a:r>
              <a:rPr lang="en-US" dirty="0"/>
              <a:t> je "</a:t>
            </a:r>
            <a:r>
              <a:rPr lang="en-US" dirty="0" err="1"/>
              <a:t>puna</a:t>
            </a:r>
            <a:r>
              <a:rPr lang="en-US" dirty="0"/>
              <a:t> </a:t>
            </a:r>
            <a:r>
              <a:rPr lang="en-US" dirty="0" err="1"/>
              <a:t>cijena</a:t>
            </a:r>
            <a:r>
              <a:rPr lang="en-US" dirty="0"/>
              <a:t>"</a:t>
            </a:r>
          </a:p>
          <a:p>
            <a:r>
              <a:rPr lang="en-US" dirty="0" err="1"/>
              <a:t>LightmapGI</a:t>
            </a:r>
            <a:r>
              <a:rPr lang="en-US" dirty="0"/>
              <a:t>  je </a:t>
            </a:r>
            <a:r>
              <a:rPr lang="en-US" dirty="0" err="1"/>
              <a:t>unaprijed</a:t>
            </a:r>
            <a:r>
              <a:rPr lang="en-US" dirty="0"/>
              <a:t> </a:t>
            </a:r>
            <a:r>
              <a:rPr lang="en-US" dirty="0" err="1"/>
              <a:t>izračunato</a:t>
            </a:r>
            <a:r>
              <a:rPr lang="en-US" dirty="0"/>
              <a:t> </a:t>
            </a:r>
            <a:r>
              <a:rPr lang="en-US" dirty="0" err="1"/>
              <a:t>svjetlo</a:t>
            </a:r>
            <a:r>
              <a:rPr lang="en-US" dirty="0"/>
              <a:t> — super za </a:t>
            </a:r>
            <a:r>
              <a:rPr lang="en-US" dirty="0" err="1"/>
              <a:t>stvari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se ne </a:t>
            </a:r>
            <a:r>
              <a:rPr lang="en-US" dirty="0" err="1"/>
              <a:t>miču</a:t>
            </a:r>
            <a:r>
              <a:rPr lang="en-US" dirty="0"/>
              <a:t> (</a:t>
            </a:r>
            <a:r>
              <a:rPr lang="en-US" dirty="0" err="1"/>
              <a:t>špilja</a:t>
            </a:r>
            <a:r>
              <a:rPr lang="en-US" dirty="0"/>
              <a:t>), </a:t>
            </a:r>
            <a:r>
              <a:rPr lang="en-US" dirty="0" err="1"/>
              <a:t>ali</a:t>
            </a:r>
            <a:r>
              <a:rPr lang="en-US" dirty="0"/>
              <a:t> ne </a:t>
            </a:r>
            <a:r>
              <a:rPr lang="en-US" dirty="0" err="1"/>
              <a:t>osvjetljava</a:t>
            </a:r>
            <a:r>
              <a:rPr lang="en-US" dirty="0"/>
              <a:t> dobro </a:t>
            </a:r>
            <a:r>
              <a:rPr lang="en-US" dirty="0" err="1"/>
              <a:t>pokretne</a:t>
            </a:r>
            <a:r>
              <a:rPr lang="en-US" dirty="0"/>
              <a:t> </a:t>
            </a:r>
            <a:r>
              <a:rPr lang="en-US" dirty="0" err="1"/>
              <a:t>stvari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je "</a:t>
            </a:r>
            <a:r>
              <a:rPr lang="en-US" dirty="0" err="1"/>
              <a:t>zamrznuto</a:t>
            </a:r>
            <a:r>
              <a:rPr lang="en-US" dirty="0"/>
              <a:t>" u </a:t>
            </a:r>
            <a:r>
              <a:rPr lang="en-US" dirty="0" err="1"/>
              <a:t>trenutku</a:t>
            </a:r>
            <a:r>
              <a:rPr lang="en-US" dirty="0"/>
              <a:t> </a:t>
            </a:r>
            <a:r>
              <a:rPr lang="en-US" dirty="0" err="1"/>
              <a:t>kad</a:t>
            </a:r>
            <a:r>
              <a:rPr lang="en-US" dirty="0"/>
              <a:t> je </a:t>
            </a:r>
            <a:r>
              <a:rPr lang="en-US" dirty="0" err="1"/>
              <a:t>izračunato</a:t>
            </a:r>
            <a:r>
              <a:rPr lang="en-US" dirty="0"/>
              <a:t>.</a:t>
            </a:r>
          </a:p>
          <a:p>
            <a:r>
              <a:rPr lang="en-US" dirty="0"/>
              <a:t>SDFGI je </a:t>
            </a:r>
            <a:r>
              <a:rPr lang="en-US" dirty="0" err="1"/>
              <a:t>suprotno</a:t>
            </a:r>
            <a:r>
              <a:rPr lang="en-US" dirty="0"/>
              <a:t> — </a:t>
            </a:r>
            <a:r>
              <a:rPr lang="en-US" dirty="0" err="1"/>
              <a:t>računa</a:t>
            </a:r>
            <a:r>
              <a:rPr lang="en-US" dirty="0"/>
              <a:t> se </a:t>
            </a:r>
            <a:r>
              <a:rPr lang="en-US" dirty="0" err="1"/>
              <a:t>uživo</a:t>
            </a:r>
            <a:r>
              <a:rPr lang="en-US" dirty="0"/>
              <a:t>, pa bi </a:t>
            </a:r>
            <a:r>
              <a:rPr lang="en-US" dirty="0" err="1"/>
              <a:t>moglo</a:t>
            </a:r>
            <a:r>
              <a:rPr lang="en-US" dirty="0"/>
              <a:t> </a:t>
            </a:r>
            <a:r>
              <a:rPr lang="en-US" dirty="0" err="1"/>
              <a:t>pratiti</a:t>
            </a:r>
            <a:r>
              <a:rPr lang="en-US" dirty="0"/>
              <a:t> </a:t>
            </a:r>
            <a:r>
              <a:rPr lang="en-US" dirty="0" err="1"/>
              <a:t>pokretne</a:t>
            </a:r>
            <a:r>
              <a:rPr lang="en-US" dirty="0"/>
              <a:t> </a:t>
            </a:r>
            <a:r>
              <a:rPr lang="en-US" dirty="0" err="1"/>
              <a:t>objekte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osvjetljavati</a:t>
            </a:r>
            <a:r>
              <a:rPr lang="en-US" dirty="0"/>
              <a:t> </a:t>
            </a:r>
            <a:r>
              <a:rPr lang="en-US" dirty="0" err="1"/>
              <a:t>ih</a:t>
            </a:r>
            <a:r>
              <a:rPr lang="en-US" dirty="0"/>
              <a:t> </a:t>
            </a:r>
            <a:r>
              <a:rPr lang="en-US" dirty="0" err="1"/>
              <a:t>ispravno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se </a:t>
            </a:r>
            <a:r>
              <a:rPr lang="en-US" dirty="0" err="1"/>
              <a:t>miču</a:t>
            </a:r>
            <a:r>
              <a:rPr lang="en-US" dirty="0"/>
              <a:t>. Problem je (</a:t>
            </a:r>
            <a:r>
              <a:rPr lang="en-US" dirty="0" err="1"/>
              <a:t>spomenuli</a:t>
            </a:r>
            <a:r>
              <a:rPr lang="en-US" dirty="0"/>
              <a:t>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ranije</a:t>
            </a:r>
            <a:r>
              <a:rPr lang="en-US" dirty="0"/>
              <a:t>) </a:t>
            </a:r>
            <a:r>
              <a:rPr lang="en-US" dirty="0" err="1"/>
              <a:t>što</a:t>
            </a:r>
            <a:r>
              <a:rPr lang="en-US" dirty="0"/>
              <a:t> SDFGI </a:t>
            </a:r>
            <a:r>
              <a:rPr lang="en-US" dirty="0" err="1"/>
              <a:t>zna</a:t>
            </a:r>
            <a:r>
              <a:rPr lang="en-US" dirty="0"/>
              <a:t> "</a:t>
            </a:r>
            <a:r>
              <a:rPr lang="en-US" dirty="0" err="1"/>
              <a:t>procuriti</a:t>
            </a:r>
            <a:r>
              <a:rPr lang="en-US" dirty="0"/>
              <a:t>" </a:t>
            </a:r>
            <a:r>
              <a:rPr lang="en-US" dirty="0" err="1"/>
              <a:t>svjetlo</a:t>
            </a:r>
            <a:r>
              <a:rPr lang="en-US" dirty="0"/>
              <a:t> </a:t>
            </a:r>
            <a:r>
              <a:rPr lang="en-US" dirty="0" err="1"/>
              <a:t>kroz</a:t>
            </a:r>
            <a:r>
              <a:rPr lang="en-US" dirty="0"/>
              <a:t> </a:t>
            </a:r>
            <a:r>
              <a:rPr lang="en-US" dirty="0" err="1"/>
              <a:t>tanke</a:t>
            </a:r>
            <a:r>
              <a:rPr lang="en-US" dirty="0"/>
              <a:t> </a:t>
            </a:r>
            <a:r>
              <a:rPr lang="en-US" dirty="0" err="1"/>
              <a:t>zidove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treperiti</a:t>
            </a:r>
            <a:endParaRPr lang="en-US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24CD37C-D22B-E0A1-D7F3-9ECF27AD40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018771" y="0"/>
            <a:ext cx="15763517" cy="70199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417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RAČUNALNA GRAFIKA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777240" y="182880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Interaktivna 3D scena špilje</a:t>
            </a:r>
            <a:endParaRPr lang="en-US" sz="42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 stvarnom vremenu</a:t>
            </a:r>
            <a:endParaRPr lang="en-US" sz="4200" dirty="0"/>
          </a:p>
        </p:txBody>
      </p:sp>
      <p:sp>
        <p:nvSpPr>
          <p:cNvPr id="7" name="Shape 4"/>
          <p:cNvSpPr/>
          <p:nvPr/>
        </p:nvSpPr>
        <p:spPr>
          <a:xfrm>
            <a:off x="822960" y="3441469"/>
            <a:ext cx="5036302" cy="0"/>
          </a:xfrm>
          <a:prstGeom prst="line">
            <a:avLst/>
          </a:prstGeom>
          <a:noFill/>
          <a:ln w="19050">
            <a:solidFill>
              <a:srgbClr val="5B7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777240" y="3441469"/>
            <a:ext cx="8229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ts val="2200"/>
              </a:lnSpc>
            </a:pP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Lovro Roguljić</a:t>
            </a:r>
            <a:r>
              <a:rPr lang="hr-HR" sz="1600" dirty="0">
                <a:solidFill>
                  <a:schemeClr val="bg1"/>
                </a:solidFill>
              </a:rPr>
              <a:t> &amp; </a:t>
            </a:r>
            <a:r>
              <a:rPr lang="en-US" sz="16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Macan  </a:t>
            </a:r>
            <a:endParaRPr lang="hr-HR" sz="1600" b="1" dirty="0">
              <a:solidFill>
                <a:schemeClr val="bg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Mentor: Domagoj Ševerdija</a:t>
            </a:r>
            <a:endParaRPr lang="en-US" sz="1600" dirty="0">
              <a:solidFill>
                <a:schemeClr val="bg1"/>
              </a:solidFill>
            </a:endParaRPr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Fakultet primijenjene matematike i informatike Osijek</a:t>
            </a:r>
            <a:endParaRPr lang="en-US" sz="1600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MOTIVACIJA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6675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Zašto interaktivna scena, a ne jedan render?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11480" y="1146551"/>
            <a:ext cx="6492240" cy="4023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mjesto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jednog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gotovog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kadra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prostor kroz koji se stvarno hoda, gleda iz bilo kojeg kuta i fizički djeluje na objekte u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njemu</a:t>
            </a:r>
            <a:endParaRPr lang="en-US" sz="1500" dirty="0"/>
          </a:p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špilja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otvorom u stropu, dnevno svjetlo pada na tamno jezero, stijene obrasle mahovinom, voda kapa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niz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zidove</a:t>
            </a:r>
            <a:endParaRPr lang="en-US" sz="1500" dirty="0"/>
          </a:p>
          <a:p>
            <a:pPr marL="228600" indent="-228600">
              <a:lnSpc>
                <a:spcPts val="2200"/>
              </a:lnSpc>
              <a:spcAft>
                <a:spcPts val="1400"/>
              </a:spcAft>
              <a:buSzPct val="100000"/>
              <a:buChar char="•"/>
            </a:pP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geometriju, cilj je bio dočarati i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atmosferu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vlagu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tišinu,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prigušeno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svjetlo</a:t>
            </a:r>
            <a:r>
              <a:rPr lang="hr-HR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 sve to prikazivati tečno, u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stvarnom</a:t>
            </a:r>
            <a:r>
              <a:rPr lang="en-US" sz="15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vremenu</a:t>
            </a:r>
            <a:endParaRPr lang="en-US" sz="1500" dirty="0"/>
          </a:p>
        </p:txBody>
      </p:sp>
      <p:pic>
        <p:nvPicPr>
          <p:cNvPr id="5" name="Image 0" descr="/home/claude/pptx/_b3_final_clearing_object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360920" y="1051560"/>
            <a:ext cx="4297680" cy="24140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60920" y="3520440"/>
            <a:ext cx="4297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Ulaz u špilju - grubi model s vegetacijom (Blender)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ALATI I TIJEK RADA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Dva</a:t>
            </a: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alata</a:t>
            </a:r>
            <a:r>
              <a:rPr lang="hr-HR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Blender &amp; Godot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Blender izrađuje sadržaj; Godot donosi sve odluke o konačnom izgledu scene u stvarnom vremenu.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2B2A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85166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85166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77724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Blender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eometrija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UV, bake tekstura,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kolizijske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mreže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849624" y="3429000"/>
            <a:ext cx="393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9768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60070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0070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2628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glTF 2.0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rijenos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PBR materijala, vertex boja i hijerarhije bez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gubitka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podataka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598664" y="3429000"/>
            <a:ext cx="3931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046720" y="2331720"/>
            <a:ext cx="3246120" cy="2926080"/>
          </a:xfrm>
          <a:prstGeom prst="roundRect">
            <a:avLst>
              <a:gd name="adj" fmla="val 3125"/>
            </a:avLst>
          </a:prstGeom>
          <a:solidFill>
            <a:srgbClr val="2B2A2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9349740" y="2651760"/>
            <a:ext cx="640080" cy="640080"/>
          </a:xfrm>
          <a:prstGeom prst="ellipse">
            <a:avLst/>
          </a:prstGeom>
          <a:solidFill>
            <a:srgbClr val="C992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9349740" y="2651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E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8275320" y="347472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Godot 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321040" y="4023360"/>
            <a:ext cx="2697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ts val="1600"/>
              </a:lnSpc>
              <a:buNone/>
            </a:pP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svjetljenje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magla, voda, fizika,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zvuk</a:t>
            </a:r>
            <a:r>
              <a:rPr lang="hr-HR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što ovisi o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pogledu</a:t>
            </a:r>
            <a:r>
              <a:rPr lang="en-US" sz="125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igrača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BLENDER - GEOMETRIJA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Od grubog modela do detaljne špilje</a:t>
            </a:r>
            <a:endParaRPr lang="en-US" sz="2700" dirty="0"/>
          </a:p>
        </p:txBody>
      </p:sp>
      <p:pic>
        <p:nvPicPr>
          <p:cNvPr id="4" name="Image 0" descr="/home/claude/pptx/_b1_up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91640"/>
            <a:ext cx="5257800" cy="2953512"/>
          </a:xfrm>
          <a:prstGeom prst="rect">
            <a:avLst/>
          </a:prstGeom>
        </p:spPr>
      </p:pic>
      <p:pic>
        <p:nvPicPr>
          <p:cNvPr id="5" name="Image 1" descr="/home/claude/pptx/_b4_hero_object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80760" y="1691640"/>
            <a:ext cx="5257800" cy="29535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Blockout - usklađen s referentnom kamerom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08076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Detaljna ljuska + vegetacija (loze, paprati)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48640" y="51663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lockout u jednostavnim primitivima, usklađen s referencom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preko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igh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-poly (displacement u 3 mjerila) 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Decimate 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low-poly za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igru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azlika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detalju zapečena u normal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mapu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kolizija je zasebna,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pojednostavljena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mreža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BLENDER - MATERIJALI I TEKSTURE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PBR materijali, zapečeni u teksture</a:t>
            </a:r>
            <a:endParaRPr lang="en-US" sz="2700" dirty="0"/>
          </a:p>
        </p:txBody>
      </p:sp>
      <p:pic>
        <p:nvPicPr>
          <p:cNvPr id="4" name="Image 0" descr="/home/claude/pptx/_mat_wall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48640" y="1691640"/>
            <a:ext cx="5257800" cy="2953512"/>
          </a:xfrm>
          <a:prstGeom prst="rect">
            <a:avLst/>
          </a:prstGeom>
        </p:spPr>
      </p:pic>
      <p:pic>
        <p:nvPicPr>
          <p:cNvPr id="5" name="Image 1" descr="/home/claude/pptx/_mat_detail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080760" y="1691640"/>
            <a:ext cx="5257800" cy="29535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Mokri pojas stijene - nizak roughness, Fresnel odsjaj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6080760" y="4690872"/>
            <a:ext cx="5257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6B68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Detalj normal mape - pukotine iz visokopoligonalne mreže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548640" y="5166360"/>
            <a:ext cx="108813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rincipled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BSDF (metallic/roughness)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model u Blenderu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Godotu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oceduralni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materijali zapečeni u base colour / normal / ORM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teksture</a:t>
            </a:r>
            <a:endParaRPr lang="en-US" sz="1300" dirty="0"/>
          </a:p>
          <a:p>
            <a:pPr marL="342900" indent="-342900">
              <a:lnSpc>
                <a:spcPts val="1800"/>
              </a:lnSpc>
              <a:spcAft>
                <a:spcPts val="4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ahovina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maska u vertex bojama + triplanarno projicirana tekstura u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Godotu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GODOT - SCENA U STVARNOM VREMENU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Osvjetljenje, magla i voda</a:t>
            </a:r>
            <a:endParaRPr lang="en-US" sz="2700" dirty="0"/>
          </a:p>
        </p:txBody>
      </p:sp>
      <p:pic>
        <p:nvPicPr>
          <p:cNvPr id="4" name="Image 0" descr="/home/claude/pptx/_mat_her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309360" y="777240"/>
            <a:ext cx="5303520" cy="298094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09360" y="379476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B9B6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Konačan izgled u Godotu: LightmapGI, volumetrijska magla, shader vode</a:t>
            </a:r>
            <a:endParaRPr lang="en-US" sz="1050" dirty="0"/>
          </a:p>
        </p:txBody>
      </p:sp>
      <p:sp>
        <p:nvSpPr>
          <p:cNvPr id="21" name="Text 4">
            <a:extLst>
              <a:ext uri="{FF2B5EF4-FFF2-40B4-BE49-F238E27FC236}">
                <a16:creationId xmlns:a16="http://schemas.microsoft.com/office/drawing/2014/main" id="{83DDA0FD-CCAA-BDA9-F807-F51B9B012EB0}"/>
              </a:ext>
            </a:extLst>
          </p:cNvPr>
          <p:cNvSpPr/>
          <p:nvPr/>
        </p:nvSpPr>
        <p:spPr>
          <a:xfrm>
            <a:off x="457200" y="1554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DirectionalLight3D</a:t>
            </a:r>
            <a:endParaRPr lang="en-US" sz="15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CBE677CD-E6CE-FE7B-2F27-FDBE8AF4FB05}"/>
              </a:ext>
            </a:extLst>
          </p:cNvPr>
          <p:cNvSpPr/>
          <p:nvPr/>
        </p:nvSpPr>
        <p:spPr>
          <a:xfrm>
            <a:off x="457200" y="19202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Jedan izvor svjetla kroz otvor u stropu, s kaskadnim sjenama.</a:t>
            </a:r>
            <a:endParaRPr lang="en-US" sz="1200" dirty="0"/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118378CA-9010-A675-72EA-4C1BCC3B3E22}"/>
              </a:ext>
            </a:extLst>
          </p:cNvPr>
          <p:cNvSpPr/>
          <p:nvPr/>
        </p:nvSpPr>
        <p:spPr>
          <a:xfrm>
            <a:off x="457200" y="26060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LightmapGI</a:t>
            </a:r>
            <a:endParaRPr lang="en-US" sz="15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8438D1FA-0FF6-00FA-C6E3-59F009DD1210}"/>
              </a:ext>
            </a:extLst>
          </p:cNvPr>
          <p:cNvSpPr/>
          <p:nvPr/>
        </p:nvSpPr>
        <p:spPr>
          <a:xfrm>
            <a:off x="457200" y="297180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Neizravno svjetlo </a:t>
            </a:r>
            <a:r>
              <a:rPr lang="en-US" sz="1200" dirty="0" err="1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unaprijed</a:t>
            </a: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zapečeno</a:t>
            </a:r>
            <a:r>
              <a:rPr lang="hr-HR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treperenja kakvo daju SDFGI/VoxelGI.</a:t>
            </a:r>
            <a:endParaRPr lang="en-US" sz="1200" dirty="0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B816A760-422A-F3B2-FB83-AF9DAB782A33}"/>
              </a:ext>
            </a:extLst>
          </p:cNvPr>
          <p:cNvSpPr/>
          <p:nvPr/>
        </p:nvSpPr>
        <p:spPr>
          <a:xfrm>
            <a:off x="457200" y="36576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Volumetrijska magla</a:t>
            </a:r>
            <a:endParaRPr lang="en-US" sz="1500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1E4FD2C4-2FA6-4FB3-DB0F-DFAFC648F716}"/>
              </a:ext>
            </a:extLst>
          </p:cNvPr>
          <p:cNvSpPr/>
          <p:nvPr/>
        </p:nvSpPr>
        <p:spPr>
          <a:xfrm>
            <a:off x="457200" y="40233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Stvarni svjetlosni snopovi (god rays), gušći sloj magle iznad jezera.</a:t>
            </a:r>
            <a:endParaRPr lang="en-US" sz="1200" dirty="0"/>
          </a:p>
        </p:txBody>
      </p:sp>
      <p:sp>
        <p:nvSpPr>
          <p:cNvPr id="33" name="Text 13">
            <a:extLst>
              <a:ext uri="{FF2B5EF4-FFF2-40B4-BE49-F238E27FC236}">
                <a16:creationId xmlns:a16="http://schemas.microsoft.com/office/drawing/2014/main" id="{FBA870EF-D116-B841-7E1A-3A1DB4127E17}"/>
              </a:ext>
            </a:extLst>
          </p:cNvPr>
          <p:cNvSpPr/>
          <p:nvPr/>
        </p:nvSpPr>
        <p:spPr>
          <a:xfrm>
            <a:off x="457200" y="47091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Shader vode</a:t>
            </a:r>
            <a:endParaRPr lang="en-US" sz="1500" dirty="0"/>
          </a:p>
        </p:txBody>
      </p:sp>
      <p:sp>
        <p:nvSpPr>
          <p:cNvPr id="35" name="Text 14">
            <a:extLst>
              <a:ext uri="{FF2B5EF4-FFF2-40B4-BE49-F238E27FC236}">
                <a16:creationId xmlns:a16="http://schemas.microsoft.com/office/drawing/2014/main" id="{D55926BA-0B40-3E09-3E1E-BDCDB2C51249}"/>
              </a:ext>
            </a:extLst>
          </p:cNvPr>
          <p:cNvSpPr/>
          <p:nvPr/>
        </p:nvSpPr>
        <p:spPr>
          <a:xfrm>
            <a:off x="457200" y="507492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500"/>
              </a:lnSpc>
              <a:buNone/>
            </a:pPr>
            <a:r>
              <a:rPr lang="en-US" sz="1200" dirty="0">
                <a:solidFill>
                  <a:srgbClr val="C9C6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Dubinska boja, refrakcija, Fresnel refleksija i valovi od bačenog kamena.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8EC23BE-AAE5-884B-05A5-009B75845D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0" y="223520"/>
            <a:ext cx="5344160" cy="304219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C49709-8B84-3F6A-D96B-7D4B4182C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936240"/>
            <a:ext cx="5383256" cy="3193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87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GODOT - FIZIKA I INTERAKCIJA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Scena koja odgovara na dodir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47472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Igrač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2296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CharacterBody3D, kapsulasti kolajder, yaw/pitch odvojen na tijelo i glavu, Jolt physics.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297680" y="192024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57200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7200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57200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Kamenje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57200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RigidBody3D lansiran impulsom razmjernim vremenu </a:t>
            </a:r>
            <a:r>
              <a:rPr lang="en-US" sz="125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drži</a:t>
            </a: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tipke</a:t>
            </a:r>
            <a:r>
              <a:rPr lang="hr-HR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pravo balističko gibanje.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920240"/>
            <a:ext cx="3429000" cy="3383280"/>
          </a:xfrm>
          <a:prstGeom prst="roundRect">
            <a:avLst>
              <a:gd name="adj" fmla="val 2162"/>
            </a:avLst>
          </a:prstGeom>
          <a:solidFill>
            <a:srgbClr val="F4F2EE"/>
          </a:solidFill>
          <a:ln w="12700">
            <a:solidFill>
              <a:srgbClr val="DDD9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321040" y="2194560"/>
            <a:ext cx="502920" cy="502920"/>
          </a:xfrm>
          <a:prstGeom prst="ellipse">
            <a:avLst/>
          </a:prstGeom>
          <a:solidFill>
            <a:srgbClr val="5B7A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21040" y="21945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8321040" y="288036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Volumen vode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321040" y="3383280"/>
            <a:ext cx="28803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Area3D detektira ulazak tijela: pljusak, val u shaderu, sporije tonjenje kamena.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C99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IZAZOVI U RADU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 nam je stvaralo najviše problema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213055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Globalna rasvjeta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SDFGI je treperio i propuštao svjetlo u zatvorenom prostoru -&gt; prešli na LightmapGI.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126480" y="196596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46520" y="213055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Magla i vidljivost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46520" y="256032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Preintenzivna magla progutala je scenu -&gt; fino podešena gustoća i anizotropija.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84048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400507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Šavovi mahovine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68680" y="443484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Klasično UV mapiranje stvaralo je šavove -&gt; triplanarno projiciranje u shaderu.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26480" y="3840480"/>
            <a:ext cx="5257800" cy="1600200"/>
          </a:xfrm>
          <a:prstGeom prst="roundRect">
            <a:avLst>
              <a:gd name="adj" fmla="val 4571"/>
            </a:avLst>
          </a:prstGeom>
          <a:solidFill>
            <a:srgbClr val="34333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446520" y="4005072"/>
            <a:ext cx="4617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C99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Trošak kolizije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46520" y="4434840"/>
            <a:ext cx="4617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600"/>
              </a:lnSpc>
              <a:buNone/>
            </a:pPr>
            <a:r>
              <a:rPr lang="en-US" sz="1200" dirty="0">
                <a:solidFill>
                  <a:srgbClr val="D8D5C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Puna vizualna mreža kao kolizija usporavala je fiziku -&gt; zasebna, pojednostavljena kolizija.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ZAKLJUČAK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700" b="1" dirty="0" err="1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Što</a:t>
            </a:r>
            <a:r>
              <a:rPr lang="en-US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hr-HR" sz="2700" b="1" dirty="0">
                <a:solidFill>
                  <a:srgbClr val="2B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 naučili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Naučeno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2194560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ffline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render i scena u stvarnom vremenu traže potpuno drugačije odluke, i s istim PBR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modelom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materijala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odjela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alata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Blender za sadržaj, Godot za sve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konačne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odluke</a:t>
            </a: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pokazala se kao dobar okvir za rad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309360" y="17830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5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Sljedeći 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2194560"/>
            <a:ext cx="52120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700"/>
              </a:lnSpc>
              <a:spcAft>
                <a:spcPts val="1000"/>
              </a:spcAft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aniji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LOD sustav za vegetaciju, koja je danas najgušća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blizu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kamere</a:t>
            </a:r>
            <a:endParaRPr lang="en-US" sz="1300" dirty="0"/>
          </a:p>
          <a:p>
            <a:pPr marL="342900" indent="-342900">
              <a:lnSpc>
                <a:spcPts val="1700"/>
              </a:lnSpc>
              <a:buSzPct val="100000"/>
              <a:buChar char="•"/>
            </a:pPr>
            <a:r>
              <a:rPr lang="hr-HR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inamička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globalna rasvjeta (SDFGI) za pokretne objekte, uz lightmape za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statičnu</a:t>
            </a:r>
            <a:r>
              <a:rPr lang="en-US" sz="1300" dirty="0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dirty="0" err="1">
                <a:solidFill>
                  <a:srgbClr val="2322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geometriju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D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pptx/_b7_hero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2110F">
              <a:alpha val="65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822960" y="2468880"/>
            <a:ext cx="10058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Hvala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</a:t>
            </a: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40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pažnji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 slijedi kratak demo scene uživo.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822960" y="4114800"/>
            <a:ext cx="2377440" cy="0"/>
          </a:xfrm>
          <a:prstGeom prst="line">
            <a:avLst/>
          </a:prstGeom>
          <a:noFill/>
          <a:ln w="19050">
            <a:solidFill>
              <a:srgbClr val="C992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22960" y="4343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4F2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Mia Macan  ·  Lovro Roguljić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601</TotalTime>
  <Words>1310</Words>
  <Application>Microsoft Office PowerPoint</Application>
  <PresentationFormat>Widescreen</PresentationFormat>
  <Paragraphs>112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Mia Macan</cp:lastModifiedBy>
  <cp:revision>6</cp:revision>
  <dcterms:created xsi:type="dcterms:W3CDTF">2026-09-14T20:06:12Z</dcterms:created>
  <dcterms:modified xsi:type="dcterms:W3CDTF">2026-09-15T07:35:19Z</dcterms:modified>
</cp:coreProperties>
</file>
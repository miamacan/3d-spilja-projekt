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6" r:id="rId8"/>
    <p:sldId id="262" r:id="rId9"/>
    <p:sldId id="263" r:id="rId10"/>
    <p:sldId id="264" r:id="rId11"/>
    <p:sldId id="265" r:id="rId1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8" d="100"/>
          <a:sy n="88" d="100"/>
        </p:scale>
        <p:origin x="87" y="2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ia Macan" userId="8f63e065e550e71c" providerId="LiveId" clId="{BD2A59FA-EB9A-4BCC-90BF-9E9D99DD59FE}"/>
    <pc:docChg chg="modSld">
      <pc:chgData name="Mia Macan" userId="8f63e065e550e71c" providerId="LiveId" clId="{BD2A59FA-EB9A-4BCC-90BF-9E9D99DD59FE}" dt="2026-09-14T21:07:24.975" v="2" actId="20577"/>
      <pc:docMkLst>
        <pc:docMk/>
      </pc:docMkLst>
      <pc:sldChg chg="modSp mod">
        <pc:chgData name="Mia Macan" userId="8f63e065e550e71c" providerId="LiveId" clId="{BD2A59FA-EB9A-4BCC-90BF-9E9D99DD59FE}" dt="2026-09-14T21:07:01.777" v="0" actId="20577"/>
        <pc:sldMkLst>
          <pc:docMk/>
          <pc:sldMk cId="0" sldId="257"/>
        </pc:sldMkLst>
        <pc:spChg chg="mod">
          <ac:chgData name="Mia Macan" userId="8f63e065e550e71c" providerId="LiveId" clId="{BD2A59FA-EB9A-4BCC-90BF-9E9D99DD59FE}" dt="2026-09-14T21:07:01.777" v="0" actId="20577"/>
          <ac:spMkLst>
            <pc:docMk/>
            <pc:sldMk cId="0" sldId="257"/>
            <ac:spMk id="4" creationId="{00000000-0000-0000-0000-000000000000}"/>
          </ac:spMkLst>
        </pc:spChg>
      </pc:sldChg>
      <pc:sldChg chg="modSp mod">
        <pc:chgData name="Mia Macan" userId="8f63e065e550e71c" providerId="LiveId" clId="{BD2A59FA-EB9A-4BCC-90BF-9E9D99DD59FE}" dt="2026-09-14T21:07:24.975" v="2" actId="20577"/>
        <pc:sldMkLst>
          <pc:docMk/>
          <pc:sldMk cId="0" sldId="264"/>
        </pc:sldMkLst>
        <pc:spChg chg="mod">
          <ac:chgData name="Mia Macan" userId="8f63e065e550e71c" providerId="LiveId" clId="{BD2A59FA-EB9A-4BCC-90BF-9E9D99DD59FE}" dt="2026-09-14T21:07:24.975" v="2" actId="20577"/>
          <ac:spMkLst>
            <pc:docMk/>
            <pc:sldMk cId="0" sldId="264"/>
            <ac:spMk id="5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627614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1D1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B24CD37C-D22B-E0A1-D7F3-9ECF27AD40C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2018771" y="0"/>
            <a:ext cx="15763517" cy="701992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22960" y="141732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C99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SEMINARSKI RAD · 3D RAČUNALNA GRAFIKA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777240" y="1828800"/>
            <a:ext cx="1024128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46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Interaktivna 3D scena špilje</a:t>
            </a:r>
            <a:endParaRPr lang="en-US" sz="4200" dirty="0"/>
          </a:p>
          <a:p>
            <a:pPr marL="0" indent="0">
              <a:lnSpc>
                <a:spcPts val="46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 stvarnom vremenu</a:t>
            </a:r>
            <a:endParaRPr lang="en-US" sz="4200" dirty="0"/>
          </a:p>
        </p:txBody>
      </p:sp>
      <p:sp>
        <p:nvSpPr>
          <p:cNvPr id="7" name="Shape 4"/>
          <p:cNvSpPr/>
          <p:nvPr/>
        </p:nvSpPr>
        <p:spPr>
          <a:xfrm>
            <a:off x="822960" y="3441469"/>
            <a:ext cx="5036302" cy="0"/>
          </a:xfrm>
          <a:prstGeom prst="line">
            <a:avLst/>
          </a:prstGeom>
          <a:noFill/>
          <a:ln w="19050">
            <a:solidFill>
              <a:srgbClr val="5B7A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777240" y="3441469"/>
            <a:ext cx="82296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lnSpc>
                <a:spcPts val="2200"/>
              </a:lnSpc>
            </a:pPr>
            <a:r>
              <a:rPr lang="en-US" sz="16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Lovro Roguljić</a:t>
            </a:r>
            <a:r>
              <a:rPr lang="hr-HR" sz="1600" dirty="0">
                <a:solidFill>
                  <a:schemeClr val="bg1"/>
                </a:solidFill>
              </a:rPr>
              <a:t> &amp; </a:t>
            </a:r>
            <a:r>
              <a:rPr lang="en-US" sz="16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Mia Macan  </a:t>
            </a:r>
            <a:endParaRPr lang="hr-HR" sz="1600" b="1" dirty="0">
              <a:solidFill>
                <a:schemeClr val="bg1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lnSpc>
                <a:spcPts val="2200"/>
              </a:lnSpc>
              <a:buNone/>
            </a:pPr>
            <a:r>
              <a:rPr lang="en-US" sz="13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Mentor: Domagoj Ševerdija</a:t>
            </a:r>
            <a:endParaRPr lang="en-US" sz="1600" dirty="0">
              <a:solidFill>
                <a:schemeClr val="bg1"/>
              </a:solidFill>
            </a:endParaRPr>
          </a:p>
          <a:p>
            <a:pPr marL="0" indent="0">
              <a:lnSpc>
                <a:spcPts val="2200"/>
              </a:lnSpc>
              <a:buNone/>
            </a:pPr>
            <a:r>
              <a:rPr lang="en-US" sz="13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Fakultet primijenjene matematike i informatike Osijek</a:t>
            </a:r>
            <a:endParaRPr lang="en-US" sz="160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3F5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· MOTIVACIJA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66751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3100"/>
              </a:lnSpc>
              <a:buNone/>
            </a:pPr>
            <a:r>
              <a:rPr lang="en-US" sz="2700" b="1" dirty="0">
                <a:solidFill>
                  <a:srgbClr val="2B2A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Zašto interaktivna scena, a ne jedan render?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411480" y="1146551"/>
            <a:ext cx="6492240" cy="4023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28600" indent="-228600">
              <a:lnSpc>
                <a:spcPts val="2200"/>
              </a:lnSpc>
              <a:spcAft>
                <a:spcPts val="1400"/>
              </a:spcAft>
              <a:buSzPct val="100000"/>
              <a:buChar char="•"/>
            </a:pPr>
            <a:r>
              <a:rPr lang="hr-HR" sz="1500" dirty="0">
                <a:solidFill>
                  <a:srgbClr val="232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</a:t>
            </a:r>
            <a:r>
              <a:rPr lang="en-US" sz="1500" dirty="0" err="1">
                <a:solidFill>
                  <a:srgbClr val="232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mjesto</a:t>
            </a:r>
            <a:r>
              <a:rPr lang="en-US" sz="1500" dirty="0">
                <a:solidFill>
                  <a:srgbClr val="232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jednog </a:t>
            </a:r>
            <a:r>
              <a:rPr lang="en-US" sz="1500" dirty="0" err="1">
                <a:solidFill>
                  <a:srgbClr val="232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gotovog</a:t>
            </a:r>
            <a:r>
              <a:rPr lang="en-US" sz="1500" dirty="0">
                <a:solidFill>
                  <a:srgbClr val="232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500" dirty="0" err="1">
                <a:solidFill>
                  <a:srgbClr val="232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kadra</a:t>
            </a:r>
            <a:r>
              <a:rPr lang="hr-HR" sz="1500" dirty="0">
                <a:solidFill>
                  <a:srgbClr val="232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-</a:t>
            </a:r>
            <a:r>
              <a:rPr lang="en-US" sz="1500" dirty="0">
                <a:solidFill>
                  <a:srgbClr val="232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prostor kroz koji se stvarno hoda, gleda iz bilo kojeg kuta i fizički djeluje na objekte u </a:t>
            </a:r>
            <a:r>
              <a:rPr lang="en-US" sz="1500" dirty="0" err="1">
                <a:solidFill>
                  <a:srgbClr val="232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njemu</a:t>
            </a:r>
            <a:endParaRPr lang="en-US" sz="1500" dirty="0"/>
          </a:p>
          <a:p>
            <a:pPr marL="228600" indent="-228600">
              <a:lnSpc>
                <a:spcPts val="2200"/>
              </a:lnSpc>
              <a:spcAft>
                <a:spcPts val="1400"/>
              </a:spcAft>
              <a:buSzPct val="100000"/>
              <a:buChar char="•"/>
            </a:pPr>
            <a:r>
              <a:rPr lang="en-US" sz="1500" dirty="0" err="1">
                <a:solidFill>
                  <a:srgbClr val="232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špilja</a:t>
            </a:r>
            <a:r>
              <a:rPr lang="en-US" sz="1500" dirty="0">
                <a:solidFill>
                  <a:srgbClr val="232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 otvorom u stropu, dnevno svjetlo pada na tamno jezero, stijene obrasle mahovinom, voda kapa </a:t>
            </a:r>
            <a:r>
              <a:rPr lang="en-US" sz="1500" dirty="0" err="1">
                <a:solidFill>
                  <a:srgbClr val="232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niz</a:t>
            </a:r>
            <a:r>
              <a:rPr lang="en-US" sz="1500" dirty="0">
                <a:solidFill>
                  <a:srgbClr val="232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500" dirty="0" err="1">
                <a:solidFill>
                  <a:srgbClr val="232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zidove</a:t>
            </a:r>
            <a:endParaRPr lang="en-US" sz="1500" dirty="0"/>
          </a:p>
          <a:p>
            <a:pPr marL="228600" indent="-228600">
              <a:lnSpc>
                <a:spcPts val="2200"/>
              </a:lnSpc>
              <a:spcAft>
                <a:spcPts val="1400"/>
              </a:spcAft>
              <a:buSzPct val="100000"/>
              <a:buChar char="•"/>
            </a:pPr>
            <a:r>
              <a:rPr lang="hr-HR" sz="1500" dirty="0">
                <a:solidFill>
                  <a:srgbClr val="232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</a:t>
            </a:r>
            <a:r>
              <a:rPr lang="en-US" sz="1500" dirty="0">
                <a:solidFill>
                  <a:srgbClr val="232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 geometriju, cilj je bio dočarati i </a:t>
            </a:r>
            <a:r>
              <a:rPr lang="en-US" sz="1500" dirty="0" err="1">
                <a:solidFill>
                  <a:srgbClr val="232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atmosferu</a:t>
            </a:r>
            <a:r>
              <a:rPr lang="en-US" sz="1500" dirty="0">
                <a:solidFill>
                  <a:srgbClr val="232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hr-HR" sz="1500" dirty="0">
                <a:solidFill>
                  <a:srgbClr val="232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</a:t>
            </a:r>
            <a:r>
              <a:rPr lang="en-US" sz="1500" dirty="0" err="1">
                <a:solidFill>
                  <a:srgbClr val="232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vlagu</a:t>
            </a:r>
            <a:r>
              <a:rPr lang="en-US" sz="1500" dirty="0">
                <a:solidFill>
                  <a:srgbClr val="232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tišinu, </a:t>
            </a:r>
            <a:r>
              <a:rPr lang="en-US" sz="1500" dirty="0" err="1">
                <a:solidFill>
                  <a:srgbClr val="232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prigušeno</a:t>
            </a:r>
            <a:r>
              <a:rPr lang="en-US" sz="1500" dirty="0">
                <a:solidFill>
                  <a:srgbClr val="232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500" dirty="0" err="1">
                <a:solidFill>
                  <a:srgbClr val="232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svjetlo</a:t>
            </a:r>
            <a:r>
              <a:rPr lang="hr-HR" sz="1500" dirty="0">
                <a:solidFill>
                  <a:srgbClr val="232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-</a:t>
            </a:r>
            <a:r>
              <a:rPr lang="en-US" sz="1500" dirty="0">
                <a:solidFill>
                  <a:srgbClr val="232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te sve to prikazivati tečno, u </a:t>
            </a:r>
            <a:r>
              <a:rPr lang="en-US" sz="1500" dirty="0" err="1">
                <a:solidFill>
                  <a:srgbClr val="232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stvarnom</a:t>
            </a:r>
            <a:r>
              <a:rPr lang="en-US" sz="1500" dirty="0">
                <a:solidFill>
                  <a:srgbClr val="232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500" dirty="0" err="1">
                <a:solidFill>
                  <a:srgbClr val="232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vremenu</a:t>
            </a:r>
            <a:endParaRPr lang="en-US" sz="1500" dirty="0"/>
          </a:p>
        </p:txBody>
      </p:sp>
      <p:pic>
        <p:nvPicPr>
          <p:cNvPr id="5" name="Image 0" descr="/home/claude/pptx/_b3_final_clearing_object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7360920" y="1051560"/>
            <a:ext cx="4297680" cy="241401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360920" y="3520440"/>
            <a:ext cx="4297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Ulaz u špilju - grubi model s vegetacijom (Blender)</a:t>
            </a:r>
            <a:endParaRPr lang="en-US" sz="1050" dirty="0"/>
          </a:p>
        </p:txBody>
      </p:sp>
      <p:sp>
        <p:nvSpPr>
          <p:cNvPr id="7" name="Text 4"/>
          <p:cNvSpPr/>
          <p:nvPr/>
        </p:nvSpPr>
        <p:spPr>
          <a:xfrm>
            <a:off x="11548872" y="64008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3F5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· ALATI I TIJEK RADA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9144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2B2A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Dva alata, jasno podijeljen posao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9601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Blender izrađuje sadržaj; Godot donosi sve odluke o konačnom izgledu scene u stvarnom vremenu.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331720"/>
            <a:ext cx="3246120" cy="2926080"/>
          </a:xfrm>
          <a:prstGeom prst="roundRect">
            <a:avLst>
              <a:gd name="adj" fmla="val 3125"/>
            </a:avLst>
          </a:prstGeom>
          <a:solidFill>
            <a:srgbClr val="2B2A2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1851660" y="2651760"/>
            <a:ext cx="640080" cy="640080"/>
          </a:xfrm>
          <a:prstGeom prst="ellipse">
            <a:avLst/>
          </a:prstGeom>
          <a:solidFill>
            <a:srgbClr val="C992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1851660" y="265176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E1D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777240" y="3474720"/>
            <a:ext cx="2788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Blender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822960" y="4023360"/>
            <a:ext cx="26974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1600"/>
              </a:lnSpc>
              <a:buNone/>
            </a:pPr>
            <a:r>
              <a:rPr lang="hr-HR" sz="1250" dirty="0">
                <a:solidFill>
                  <a:srgbClr val="F4F2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</a:t>
            </a:r>
            <a:r>
              <a:rPr lang="en-US" sz="1250" dirty="0" err="1">
                <a:solidFill>
                  <a:srgbClr val="F4F2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eometrija</a:t>
            </a:r>
            <a:r>
              <a:rPr lang="en-US" sz="1250" dirty="0">
                <a:solidFill>
                  <a:srgbClr val="F4F2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UV, bake tekstura, </a:t>
            </a:r>
            <a:r>
              <a:rPr lang="en-US" sz="1250" dirty="0" err="1">
                <a:solidFill>
                  <a:srgbClr val="F4F2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kolizijske</a:t>
            </a:r>
            <a:r>
              <a:rPr lang="en-US" sz="1250" dirty="0">
                <a:solidFill>
                  <a:srgbClr val="F4F2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50" dirty="0" err="1">
                <a:solidFill>
                  <a:srgbClr val="F4F2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mreže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3849624" y="3429000"/>
            <a:ext cx="39319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4297680" y="2331720"/>
            <a:ext cx="3246120" cy="2926080"/>
          </a:xfrm>
          <a:prstGeom prst="roundRect">
            <a:avLst>
              <a:gd name="adj" fmla="val 3125"/>
            </a:avLst>
          </a:prstGeom>
          <a:solidFill>
            <a:srgbClr val="5B7A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5600700" y="2651760"/>
            <a:ext cx="640080" cy="640080"/>
          </a:xfrm>
          <a:prstGeom prst="ellipse">
            <a:avLst/>
          </a:prstGeom>
          <a:solidFill>
            <a:srgbClr val="C992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5600700" y="265176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E1D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526280" y="3474720"/>
            <a:ext cx="2788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glTF 2.0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4572000" y="4023360"/>
            <a:ext cx="26974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1600"/>
              </a:lnSpc>
              <a:buNone/>
            </a:pPr>
            <a:r>
              <a:rPr lang="hr-HR" sz="1250" dirty="0">
                <a:solidFill>
                  <a:srgbClr val="F4F2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</a:t>
            </a:r>
            <a:r>
              <a:rPr lang="en-US" sz="1250" dirty="0" err="1">
                <a:solidFill>
                  <a:srgbClr val="F4F2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rijenos</a:t>
            </a:r>
            <a:r>
              <a:rPr lang="en-US" sz="1250" dirty="0">
                <a:solidFill>
                  <a:srgbClr val="F4F2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PBR materijala, vertex boja i hijerarhije bez </a:t>
            </a:r>
            <a:r>
              <a:rPr lang="en-US" sz="1250" dirty="0" err="1">
                <a:solidFill>
                  <a:srgbClr val="F4F2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gubitka</a:t>
            </a:r>
            <a:r>
              <a:rPr lang="en-US" sz="1250" dirty="0">
                <a:solidFill>
                  <a:srgbClr val="F4F2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50" dirty="0" err="1">
                <a:solidFill>
                  <a:srgbClr val="F4F2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podataka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7598664" y="3429000"/>
            <a:ext cx="39319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7" name="Shape 15"/>
          <p:cNvSpPr/>
          <p:nvPr/>
        </p:nvSpPr>
        <p:spPr>
          <a:xfrm>
            <a:off x="8046720" y="2331720"/>
            <a:ext cx="3246120" cy="2926080"/>
          </a:xfrm>
          <a:prstGeom prst="roundRect">
            <a:avLst>
              <a:gd name="adj" fmla="val 3125"/>
            </a:avLst>
          </a:prstGeom>
          <a:solidFill>
            <a:srgbClr val="2B2A2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9349740" y="2651760"/>
            <a:ext cx="640080" cy="640080"/>
          </a:xfrm>
          <a:prstGeom prst="ellipse">
            <a:avLst/>
          </a:prstGeom>
          <a:solidFill>
            <a:srgbClr val="C992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9349740" y="265176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E1D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8275320" y="3474720"/>
            <a:ext cx="2788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Godot 4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8321040" y="4023360"/>
            <a:ext cx="26974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1600"/>
              </a:lnSpc>
              <a:buNone/>
            </a:pPr>
            <a:r>
              <a:rPr lang="hr-HR" sz="1250" dirty="0">
                <a:solidFill>
                  <a:srgbClr val="F4F2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</a:t>
            </a:r>
            <a:r>
              <a:rPr lang="en-US" sz="1250" dirty="0" err="1">
                <a:solidFill>
                  <a:srgbClr val="F4F2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svjetljenje</a:t>
            </a:r>
            <a:r>
              <a:rPr lang="en-US" sz="1250" dirty="0">
                <a:solidFill>
                  <a:srgbClr val="F4F2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magla, voda, fizika, </a:t>
            </a:r>
            <a:r>
              <a:rPr lang="en-US" sz="1250" dirty="0" err="1">
                <a:solidFill>
                  <a:srgbClr val="F4F2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zvuk</a:t>
            </a:r>
            <a:r>
              <a:rPr lang="hr-HR" sz="1250" dirty="0">
                <a:solidFill>
                  <a:srgbClr val="F4F2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- </a:t>
            </a:r>
            <a:r>
              <a:rPr lang="en-US" sz="1250" dirty="0" err="1">
                <a:solidFill>
                  <a:srgbClr val="F4F2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sve</a:t>
            </a:r>
            <a:r>
              <a:rPr lang="en-US" sz="1250" dirty="0">
                <a:solidFill>
                  <a:srgbClr val="F4F2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što ovisi o </a:t>
            </a:r>
            <a:r>
              <a:rPr lang="en-US" sz="1250" dirty="0" err="1">
                <a:solidFill>
                  <a:srgbClr val="F4F2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pogledu</a:t>
            </a:r>
            <a:r>
              <a:rPr lang="en-US" sz="1250" dirty="0">
                <a:solidFill>
                  <a:srgbClr val="F4F2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50" dirty="0" err="1">
                <a:solidFill>
                  <a:srgbClr val="F4F2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igrača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548640" y="5532120"/>
            <a:ext cx="10332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Vodeći proračun: ~16 ms po sličici za 60 fps na 1440p, desktop GPU srednje klase.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11548872" y="64008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3F5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· BLENDER - GEOMETRIJA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9144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2B2A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Od grubog modela do detaljne špilje</a:t>
            </a:r>
            <a:endParaRPr lang="en-US" sz="2700" dirty="0"/>
          </a:p>
        </p:txBody>
      </p:sp>
      <p:pic>
        <p:nvPicPr>
          <p:cNvPr id="4" name="Image 0" descr="/home/claude/pptx/_b1_up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48640" y="1691640"/>
            <a:ext cx="5257800" cy="2953512"/>
          </a:xfrm>
          <a:prstGeom prst="rect">
            <a:avLst/>
          </a:prstGeom>
        </p:spPr>
      </p:pic>
      <p:pic>
        <p:nvPicPr>
          <p:cNvPr id="5" name="Image 1" descr="/home/claude/pptx/_b4_hero_object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6080760" y="1691640"/>
            <a:ext cx="5257800" cy="2953512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548640" y="4690872"/>
            <a:ext cx="5257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Blockout - usklađen s referentnom kamerom</a:t>
            </a:r>
            <a:endParaRPr lang="en-US" sz="1100" dirty="0"/>
          </a:p>
        </p:txBody>
      </p:sp>
      <p:sp>
        <p:nvSpPr>
          <p:cNvPr id="7" name="Text 3"/>
          <p:cNvSpPr/>
          <p:nvPr/>
        </p:nvSpPr>
        <p:spPr>
          <a:xfrm>
            <a:off x="6080760" y="4690872"/>
            <a:ext cx="5257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Detaljna ljuska + vegetacija (loze, paprati)</a:t>
            </a:r>
            <a:endParaRPr lang="en-US" sz="1100" dirty="0"/>
          </a:p>
        </p:txBody>
      </p:sp>
      <p:sp>
        <p:nvSpPr>
          <p:cNvPr id="8" name="Text 4"/>
          <p:cNvSpPr/>
          <p:nvPr/>
        </p:nvSpPr>
        <p:spPr>
          <a:xfrm>
            <a:off x="548640" y="5166360"/>
            <a:ext cx="108813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1800"/>
              </a:lnSpc>
              <a:spcAft>
                <a:spcPts val="400"/>
              </a:spcAft>
              <a:buSzPct val="100000"/>
              <a:buChar char="•"/>
            </a:pPr>
            <a:r>
              <a:rPr lang="hr-HR" sz="1300" dirty="0">
                <a:solidFill>
                  <a:srgbClr val="232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r>
              <a:rPr lang="en-US" sz="1300" dirty="0">
                <a:solidFill>
                  <a:srgbClr val="232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lockout u jednostavnim primitivima, usklađen s referencom </a:t>
            </a:r>
            <a:r>
              <a:rPr lang="en-US" sz="1300" dirty="0" err="1">
                <a:solidFill>
                  <a:srgbClr val="232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preko</a:t>
            </a:r>
            <a:r>
              <a:rPr lang="en-US" sz="1300" dirty="0">
                <a:solidFill>
                  <a:srgbClr val="232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00" dirty="0" err="1">
                <a:solidFill>
                  <a:srgbClr val="232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kamere</a:t>
            </a:r>
            <a:endParaRPr lang="en-US" sz="1300" dirty="0"/>
          </a:p>
          <a:p>
            <a:pPr marL="342900" indent="-342900">
              <a:lnSpc>
                <a:spcPts val="1800"/>
              </a:lnSpc>
              <a:spcAft>
                <a:spcPts val="400"/>
              </a:spcAft>
              <a:buSzPct val="100000"/>
              <a:buChar char="•"/>
            </a:pPr>
            <a:r>
              <a:rPr lang="hr-HR" sz="1300" dirty="0">
                <a:solidFill>
                  <a:srgbClr val="232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</a:t>
            </a:r>
            <a:r>
              <a:rPr lang="en-US" sz="1300" dirty="0" err="1">
                <a:solidFill>
                  <a:srgbClr val="232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igh</a:t>
            </a:r>
            <a:r>
              <a:rPr lang="en-US" sz="1300" dirty="0">
                <a:solidFill>
                  <a:srgbClr val="232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-poly (displacement u 3 mjerila) </a:t>
            </a:r>
            <a:r>
              <a:rPr lang="hr-HR" sz="1300" dirty="0">
                <a:solidFill>
                  <a:srgbClr val="232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-&gt;</a:t>
            </a:r>
            <a:r>
              <a:rPr lang="en-US" sz="1300" dirty="0">
                <a:solidFill>
                  <a:srgbClr val="232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Decimate </a:t>
            </a:r>
            <a:r>
              <a:rPr lang="hr-HR" sz="1300" dirty="0">
                <a:solidFill>
                  <a:srgbClr val="232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-&gt;</a:t>
            </a:r>
            <a:r>
              <a:rPr lang="en-US" sz="1300" dirty="0">
                <a:solidFill>
                  <a:srgbClr val="232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low-poly za </a:t>
            </a:r>
            <a:r>
              <a:rPr lang="en-US" sz="1300" dirty="0" err="1">
                <a:solidFill>
                  <a:srgbClr val="232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igru</a:t>
            </a:r>
            <a:r>
              <a:rPr lang="en-US" sz="1300" dirty="0">
                <a:solidFill>
                  <a:srgbClr val="232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300" dirty="0"/>
          </a:p>
          <a:p>
            <a:pPr marL="342900" indent="-342900">
              <a:lnSpc>
                <a:spcPts val="1800"/>
              </a:lnSpc>
              <a:spcAft>
                <a:spcPts val="400"/>
              </a:spcAft>
              <a:buSzPct val="100000"/>
              <a:buChar char="•"/>
            </a:pPr>
            <a:r>
              <a:rPr lang="hr-HR" sz="1300" dirty="0">
                <a:solidFill>
                  <a:srgbClr val="232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</a:t>
            </a:r>
            <a:r>
              <a:rPr lang="en-US" sz="1300" dirty="0" err="1">
                <a:solidFill>
                  <a:srgbClr val="232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azlika</a:t>
            </a:r>
            <a:r>
              <a:rPr lang="en-US" sz="1300" dirty="0">
                <a:solidFill>
                  <a:srgbClr val="232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u detalju zapečena u normal </a:t>
            </a:r>
            <a:r>
              <a:rPr lang="en-US" sz="1300" dirty="0" err="1">
                <a:solidFill>
                  <a:srgbClr val="232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mapu</a:t>
            </a:r>
            <a:r>
              <a:rPr lang="hr-HR" sz="1300" dirty="0">
                <a:solidFill>
                  <a:srgbClr val="232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</a:t>
            </a:r>
            <a:r>
              <a:rPr lang="en-US" sz="1300" dirty="0">
                <a:solidFill>
                  <a:srgbClr val="232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kolizija je zasebna, </a:t>
            </a:r>
            <a:r>
              <a:rPr lang="en-US" sz="1300" dirty="0" err="1">
                <a:solidFill>
                  <a:srgbClr val="232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pojednostavljena</a:t>
            </a:r>
            <a:r>
              <a:rPr lang="en-US" sz="1300" dirty="0">
                <a:solidFill>
                  <a:srgbClr val="232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00" dirty="0" err="1">
                <a:solidFill>
                  <a:srgbClr val="232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mreža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3F5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· BLENDER - MATERIJALI I TEKSTURE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9144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2B2A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PBR materijali, zapečeni u teksture</a:t>
            </a:r>
            <a:endParaRPr lang="en-US" sz="2700" dirty="0"/>
          </a:p>
        </p:txBody>
      </p:sp>
      <p:pic>
        <p:nvPicPr>
          <p:cNvPr id="4" name="Image 0" descr="/home/claude/pptx/_mat_wall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48640" y="1691640"/>
            <a:ext cx="5257800" cy="2953512"/>
          </a:xfrm>
          <a:prstGeom prst="rect">
            <a:avLst/>
          </a:prstGeom>
        </p:spPr>
      </p:pic>
      <p:pic>
        <p:nvPicPr>
          <p:cNvPr id="5" name="Image 1" descr="/home/claude/pptx/_mat_detail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6080760" y="1691640"/>
            <a:ext cx="5257800" cy="2953512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548640" y="4690872"/>
            <a:ext cx="5257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Mokri pojas stijene - nizak roughness, Fresnel odsjaj</a:t>
            </a:r>
            <a:endParaRPr lang="en-US" sz="1100" dirty="0"/>
          </a:p>
        </p:txBody>
      </p:sp>
      <p:sp>
        <p:nvSpPr>
          <p:cNvPr id="7" name="Text 3"/>
          <p:cNvSpPr/>
          <p:nvPr/>
        </p:nvSpPr>
        <p:spPr>
          <a:xfrm>
            <a:off x="6080760" y="4690872"/>
            <a:ext cx="5257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Detalj normal mape - pukotine iz visokopoligonalne mreže</a:t>
            </a:r>
            <a:endParaRPr lang="en-US" sz="1100" dirty="0"/>
          </a:p>
        </p:txBody>
      </p:sp>
      <p:sp>
        <p:nvSpPr>
          <p:cNvPr id="8" name="Text 4"/>
          <p:cNvSpPr/>
          <p:nvPr/>
        </p:nvSpPr>
        <p:spPr>
          <a:xfrm>
            <a:off x="548640" y="5166360"/>
            <a:ext cx="108813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1800"/>
              </a:lnSpc>
              <a:spcAft>
                <a:spcPts val="400"/>
              </a:spcAft>
              <a:buSzPct val="100000"/>
              <a:buChar char="•"/>
            </a:pPr>
            <a:r>
              <a:rPr lang="hr-HR" sz="1300" dirty="0">
                <a:solidFill>
                  <a:srgbClr val="232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</a:t>
            </a:r>
            <a:r>
              <a:rPr lang="en-US" sz="1300" dirty="0" err="1">
                <a:solidFill>
                  <a:srgbClr val="232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rincipled</a:t>
            </a:r>
            <a:r>
              <a:rPr lang="en-US" sz="1300" dirty="0">
                <a:solidFill>
                  <a:srgbClr val="232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BSDF (metallic/roughness)</a:t>
            </a:r>
            <a:r>
              <a:rPr lang="hr-HR" sz="1300" dirty="0">
                <a:solidFill>
                  <a:srgbClr val="232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- </a:t>
            </a:r>
            <a:r>
              <a:rPr lang="en-US" sz="1300" dirty="0" err="1">
                <a:solidFill>
                  <a:srgbClr val="232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isti</a:t>
            </a:r>
            <a:r>
              <a:rPr lang="en-US" sz="1300" dirty="0">
                <a:solidFill>
                  <a:srgbClr val="232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model u Blenderu </a:t>
            </a:r>
            <a:r>
              <a:rPr lang="en-US" sz="1300" dirty="0" err="1">
                <a:solidFill>
                  <a:srgbClr val="232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</a:t>
            </a:r>
            <a:r>
              <a:rPr lang="en-US" sz="1300" dirty="0">
                <a:solidFill>
                  <a:srgbClr val="232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00" dirty="0" err="1">
                <a:solidFill>
                  <a:srgbClr val="232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Godotu</a:t>
            </a:r>
            <a:endParaRPr lang="en-US" sz="1300" dirty="0"/>
          </a:p>
          <a:p>
            <a:pPr marL="342900" indent="-342900">
              <a:lnSpc>
                <a:spcPts val="1800"/>
              </a:lnSpc>
              <a:spcAft>
                <a:spcPts val="400"/>
              </a:spcAft>
              <a:buSzPct val="100000"/>
              <a:buChar char="•"/>
            </a:pPr>
            <a:r>
              <a:rPr lang="hr-HR" sz="1300" dirty="0">
                <a:solidFill>
                  <a:srgbClr val="232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</a:t>
            </a:r>
            <a:r>
              <a:rPr lang="en-US" sz="1300" dirty="0" err="1">
                <a:solidFill>
                  <a:srgbClr val="232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oceduralni</a:t>
            </a:r>
            <a:r>
              <a:rPr lang="en-US" sz="1300" dirty="0">
                <a:solidFill>
                  <a:srgbClr val="232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materijali zapečeni u base colour / normal / ORM </a:t>
            </a:r>
            <a:r>
              <a:rPr lang="en-US" sz="1300" dirty="0" err="1">
                <a:solidFill>
                  <a:srgbClr val="232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teksture</a:t>
            </a:r>
            <a:endParaRPr lang="en-US" sz="1300" dirty="0"/>
          </a:p>
          <a:p>
            <a:pPr marL="342900" indent="-342900">
              <a:lnSpc>
                <a:spcPts val="1800"/>
              </a:lnSpc>
              <a:spcAft>
                <a:spcPts val="400"/>
              </a:spcAft>
              <a:buSzPct val="100000"/>
              <a:buChar char="•"/>
            </a:pPr>
            <a:r>
              <a:rPr lang="hr-HR" sz="1300" dirty="0">
                <a:solidFill>
                  <a:srgbClr val="232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</a:t>
            </a:r>
            <a:r>
              <a:rPr lang="en-US" sz="1300" dirty="0" err="1">
                <a:solidFill>
                  <a:srgbClr val="232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ahovina</a:t>
            </a:r>
            <a:r>
              <a:rPr lang="en-US" sz="1300" dirty="0">
                <a:solidFill>
                  <a:srgbClr val="232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maska u vertex bojama + triplanarno projicirana tekstura u </a:t>
            </a:r>
            <a:r>
              <a:rPr lang="en-US" sz="1300" dirty="0" err="1">
                <a:solidFill>
                  <a:srgbClr val="232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Godotu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E1D1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C99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· GODOT - SCENA U STVARNOM VREMENU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56692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Osvjetljenje, magla i voda</a:t>
            </a:r>
            <a:endParaRPr lang="en-US" sz="2700" dirty="0"/>
          </a:p>
        </p:txBody>
      </p:sp>
      <p:pic>
        <p:nvPicPr>
          <p:cNvPr id="4" name="Image 0" descr="/home/claude/pptx/_mat_hero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309360" y="777240"/>
            <a:ext cx="5303520" cy="298094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309360" y="3794760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B9B6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Konačan izgled u Godotu: LightmapGI, volumetrijska magla, shader vode</a:t>
            </a:r>
            <a:endParaRPr lang="en-US" sz="1050" dirty="0"/>
          </a:p>
        </p:txBody>
      </p:sp>
      <p:sp>
        <p:nvSpPr>
          <p:cNvPr id="21" name="Text 4">
            <a:extLst>
              <a:ext uri="{FF2B5EF4-FFF2-40B4-BE49-F238E27FC236}">
                <a16:creationId xmlns:a16="http://schemas.microsoft.com/office/drawing/2014/main" id="{83DDA0FD-CCAA-BDA9-F807-F51B9B012EB0}"/>
              </a:ext>
            </a:extLst>
          </p:cNvPr>
          <p:cNvSpPr/>
          <p:nvPr/>
        </p:nvSpPr>
        <p:spPr>
          <a:xfrm>
            <a:off x="457200" y="155448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DirectionalLight3D</a:t>
            </a:r>
            <a:endParaRPr lang="en-US" sz="1500" dirty="0"/>
          </a:p>
        </p:txBody>
      </p:sp>
      <p:sp>
        <p:nvSpPr>
          <p:cNvPr id="23" name="Text 5">
            <a:extLst>
              <a:ext uri="{FF2B5EF4-FFF2-40B4-BE49-F238E27FC236}">
                <a16:creationId xmlns:a16="http://schemas.microsoft.com/office/drawing/2014/main" id="{CBE677CD-E6CE-FE7B-2F27-FDBE8AF4FB05}"/>
              </a:ext>
            </a:extLst>
          </p:cNvPr>
          <p:cNvSpPr/>
          <p:nvPr/>
        </p:nvSpPr>
        <p:spPr>
          <a:xfrm>
            <a:off x="457200" y="1920240"/>
            <a:ext cx="5120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200" dirty="0">
                <a:solidFill>
                  <a:srgbClr val="C9C6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Jedan izvor svjetla kroz otvor u stropu, s kaskadnim sjenama.</a:t>
            </a:r>
            <a:endParaRPr lang="en-US" sz="1200" dirty="0"/>
          </a:p>
        </p:txBody>
      </p:sp>
      <p:sp>
        <p:nvSpPr>
          <p:cNvPr id="25" name="Text 7">
            <a:extLst>
              <a:ext uri="{FF2B5EF4-FFF2-40B4-BE49-F238E27FC236}">
                <a16:creationId xmlns:a16="http://schemas.microsoft.com/office/drawing/2014/main" id="{118378CA-9010-A675-72EA-4C1BCC3B3E22}"/>
              </a:ext>
            </a:extLst>
          </p:cNvPr>
          <p:cNvSpPr/>
          <p:nvPr/>
        </p:nvSpPr>
        <p:spPr>
          <a:xfrm>
            <a:off x="457200" y="260604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LightmapGI</a:t>
            </a:r>
            <a:endParaRPr lang="en-US" sz="1500" dirty="0"/>
          </a:p>
        </p:txBody>
      </p:sp>
      <p:sp>
        <p:nvSpPr>
          <p:cNvPr id="27" name="Text 8">
            <a:extLst>
              <a:ext uri="{FF2B5EF4-FFF2-40B4-BE49-F238E27FC236}">
                <a16:creationId xmlns:a16="http://schemas.microsoft.com/office/drawing/2014/main" id="{8438D1FA-0FF6-00FA-C6E3-59F009DD1210}"/>
              </a:ext>
            </a:extLst>
          </p:cNvPr>
          <p:cNvSpPr/>
          <p:nvPr/>
        </p:nvSpPr>
        <p:spPr>
          <a:xfrm>
            <a:off x="457200" y="2971800"/>
            <a:ext cx="5120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200" dirty="0">
                <a:solidFill>
                  <a:srgbClr val="C9C6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Neizravno svjetlo </a:t>
            </a:r>
            <a:r>
              <a:rPr lang="en-US" sz="1200" dirty="0" err="1">
                <a:solidFill>
                  <a:srgbClr val="C9C6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unaprijed</a:t>
            </a:r>
            <a:r>
              <a:rPr lang="en-US" sz="1200" dirty="0">
                <a:solidFill>
                  <a:srgbClr val="C9C6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solidFill>
                  <a:srgbClr val="C9C6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zapečeno</a:t>
            </a:r>
            <a:r>
              <a:rPr lang="hr-HR" sz="1200" dirty="0">
                <a:solidFill>
                  <a:srgbClr val="C9C6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-</a:t>
            </a:r>
            <a:r>
              <a:rPr lang="en-US" sz="1200" dirty="0">
                <a:solidFill>
                  <a:srgbClr val="C9C6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bez treperenja kakvo daju SDFGI/VoxelGI.</a:t>
            </a:r>
            <a:endParaRPr lang="en-US" sz="1200" dirty="0"/>
          </a:p>
        </p:txBody>
      </p:sp>
      <p:sp>
        <p:nvSpPr>
          <p:cNvPr id="29" name="Text 10">
            <a:extLst>
              <a:ext uri="{FF2B5EF4-FFF2-40B4-BE49-F238E27FC236}">
                <a16:creationId xmlns:a16="http://schemas.microsoft.com/office/drawing/2014/main" id="{B816A760-422A-F3B2-FB83-AF9DAB782A33}"/>
              </a:ext>
            </a:extLst>
          </p:cNvPr>
          <p:cNvSpPr/>
          <p:nvPr/>
        </p:nvSpPr>
        <p:spPr>
          <a:xfrm>
            <a:off x="457200" y="365760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Volumetrijska magla</a:t>
            </a:r>
            <a:endParaRPr lang="en-US" sz="1500" dirty="0"/>
          </a:p>
        </p:txBody>
      </p:sp>
      <p:sp>
        <p:nvSpPr>
          <p:cNvPr id="31" name="Text 11">
            <a:extLst>
              <a:ext uri="{FF2B5EF4-FFF2-40B4-BE49-F238E27FC236}">
                <a16:creationId xmlns:a16="http://schemas.microsoft.com/office/drawing/2014/main" id="{1E4FD2C4-2FA6-4FB3-DB0F-DFAFC648F716}"/>
              </a:ext>
            </a:extLst>
          </p:cNvPr>
          <p:cNvSpPr/>
          <p:nvPr/>
        </p:nvSpPr>
        <p:spPr>
          <a:xfrm>
            <a:off x="457200" y="4023360"/>
            <a:ext cx="5120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200" dirty="0">
                <a:solidFill>
                  <a:srgbClr val="C9C6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Stvarni svjetlosni snopovi (god rays), gušći sloj magle iznad jezera.</a:t>
            </a:r>
            <a:endParaRPr lang="en-US" sz="1200" dirty="0"/>
          </a:p>
        </p:txBody>
      </p:sp>
      <p:sp>
        <p:nvSpPr>
          <p:cNvPr id="33" name="Text 13">
            <a:extLst>
              <a:ext uri="{FF2B5EF4-FFF2-40B4-BE49-F238E27FC236}">
                <a16:creationId xmlns:a16="http://schemas.microsoft.com/office/drawing/2014/main" id="{FBA870EF-D116-B841-7E1A-3A1DB4127E17}"/>
              </a:ext>
            </a:extLst>
          </p:cNvPr>
          <p:cNvSpPr/>
          <p:nvPr/>
        </p:nvSpPr>
        <p:spPr>
          <a:xfrm>
            <a:off x="457200" y="470916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Shader vode</a:t>
            </a:r>
            <a:endParaRPr lang="en-US" sz="1500" dirty="0"/>
          </a:p>
        </p:txBody>
      </p:sp>
      <p:sp>
        <p:nvSpPr>
          <p:cNvPr id="35" name="Text 14">
            <a:extLst>
              <a:ext uri="{FF2B5EF4-FFF2-40B4-BE49-F238E27FC236}">
                <a16:creationId xmlns:a16="http://schemas.microsoft.com/office/drawing/2014/main" id="{D55926BA-0B40-3E09-3E1E-BDCDB2C51249}"/>
              </a:ext>
            </a:extLst>
          </p:cNvPr>
          <p:cNvSpPr/>
          <p:nvPr/>
        </p:nvSpPr>
        <p:spPr>
          <a:xfrm>
            <a:off x="457200" y="5074920"/>
            <a:ext cx="5120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200" dirty="0">
                <a:solidFill>
                  <a:srgbClr val="C9C6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Dubinska boja, refrakcija, Fresnel refleksija i valovi od bačenog kamena.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8EC23BE-AAE5-884B-05A5-009B75845D2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5600" y="223520"/>
            <a:ext cx="5344160" cy="304219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2C49709-8B84-3F6A-D96B-7D4B4182CEE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2936240"/>
            <a:ext cx="5383256" cy="31939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17878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3F5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· GODOT - FIZIKA I INTERAKCIJA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9144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2B2A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Scena koja odgovara na dodir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3474720" cy="3383280"/>
          </a:xfrm>
          <a:prstGeom prst="roundRect">
            <a:avLst>
              <a:gd name="adj" fmla="val 2162"/>
            </a:avLst>
          </a:prstGeom>
          <a:solidFill>
            <a:srgbClr val="F4F2EE"/>
          </a:solidFill>
          <a:ln w="12700">
            <a:solidFill>
              <a:srgbClr val="DDD9C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822960" y="2194560"/>
            <a:ext cx="502920" cy="502920"/>
          </a:xfrm>
          <a:prstGeom prst="ellipse">
            <a:avLst/>
          </a:prstGeom>
          <a:solidFill>
            <a:srgbClr val="5B7A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822960" y="21945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22960" y="2880360"/>
            <a:ext cx="2880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B2A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Igrač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822960" y="3383280"/>
            <a:ext cx="288036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250" dirty="0">
                <a:solidFill>
                  <a:srgbClr val="232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CharacterBody3D, kapsulasti kolajder, yaw/pitch odvojen na tijelo i glavu, Jolt physics.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297680" y="1920240"/>
            <a:ext cx="3429000" cy="3383280"/>
          </a:xfrm>
          <a:prstGeom prst="roundRect">
            <a:avLst>
              <a:gd name="adj" fmla="val 2162"/>
            </a:avLst>
          </a:prstGeom>
          <a:solidFill>
            <a:srgbClr val="F4F2EE"/>
          </a:solidFill>
          <a:ln w="12700">
            <a:solidFill>
              <a:srgbClr val="DDD9C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4572000" y="2194560"/>
            <a:ext cx="502920" cy="502920"/>
          </a:xfrm>
          <a:prstGeom prst="ellipse">
            <a:avLst/>
          </a:prstGeom>
          <a:solidFill>
            <a:srgbClr val="5B7A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572000" y="21945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4572000" y="2880360"/>
            <a:ext cx="2880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B2A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Kamenje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4572000" y="3383280"/>
            <a:ext cx="288036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250" dirty="0">
                <a:solidFill>
                  <a:srgbClr val="232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RigidBody3D lansiran impulsom razmjernim vremenu </a:t>
            </a:r>
            <a:r>
              <a:rPr lang="en-US" sz="1250" dirty="0" err="1">
                <a:solidFill>
                  <a:srgbClr val="232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drži</a:t>
            </a:r>
            <a:r>
              <a:rPr lang="en-US" sz="1250" dirty="0">
                <a:solidFill>
                  <a:srgbClr val="232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50" dirty="0" err="1">
                <a:solidFill>
                  <a:srgbClr val="232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tipke</a:t>
            </a:r>
            <a:r>
              <a:rPr lang="hr-HR" sz="1250" dirty="0">
                <a:solidFill>
                  <a:srgbClr val="232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-</a:t>
            </a:r>
            <a:r>
              <a:rPr lang="en-US" sz="1250" dirty="0">
                <a:solidFill>
                  <a:srgbClr val="232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pravo balističko gibanje.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8046720" y="1920240"/>
            <a:ext cx="3429000" cy="3383280"/>
          </a:xfrm>
          <a:prstGeom prst="roundRect">
            <a:avLst>
              <a:gd name="adj" fmla="val 2162"/>
            </a:avLst>
          </a:prstGeom>
          <a:solidFill>
            <a:srgbClr val="F4F2EE"/>
          </a:solidFill>
          <a:ln w="12700">
            <a:solidFill>
              <a:srgbClr val="DDD9C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8321040" y="2194560"/>
            <a:ext cx="502920" cy="502920"/>
          </a:xfrm>
          <a:prstGeom prst="ellipse">
            <a:avLst/>
          </a:prstGeom>
          <a:solidFill>
            <a:srgbClr val="5B7A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8321040" y="21945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8321040" y="2880360"/>
            <a:ext cx="2880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B2A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Volumen vode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8321040" y="3383280"/>
            <a:ext cx="288036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250" dirty="0">
                <a:solidFill>
                  <a:srgbClr val="232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Area3D detektira ulazak tijela: pljusak, val u shaderu, sporije tonjenje kamena.</a:t>
            </a:r>
            <a:endParaRPr lang="en-US" sz="12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E1D1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C99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· IZAZOVI U RADU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9144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Što nam je stvaralo najviše problema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965960"/>
            <a:ext cx="5257800" cy="1600200"/>
          </a:xfrm>
          <a:prstGeom prst="roundRect">
            <a:avLst>
              <a:gd name="adj" fmla="val 4571"/>
            </a:avLst>
          </a:prstGeom>
          <a:solidFill>
            <a:srgbClr val="34333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868680" y="2130552"/>
            <a:ext cx="4617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C992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Globalna rasvjeta</a:t>
            </a:r>
            <a:endParaRPr lang="en-US" sz="1550" dirty="0"/>
          </a:p>
        </p:txBody>
      </p:sp>
      <p:sp>
        <p:nvSpPr>
          <p:cNvPr id="6" name="Text 4"/>
          <p:cNvSpPr/>
          <p:nvPr/>
        </p:nvSpPr>
        <p:spPr>
          <a:xfrm>
            <a:off x="868680" y="2560320"/>
            <a:ext cx="4617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00" dirty="0">
                <a:solidFill>
                  <a:srgbClr val="D8D5C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SDFGI je treperio i propuštao svjetlo u zatvorenom prostoru -&gt; prešli na LightmapGI.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126480" y="1965960"/>
            <a:ext cx="5257800" cy="1600200"/>
          </a:xfrm>
          <a:prstGeom prst="roundRect">
            <a:avLst>
              <a:gd name="adj" fmla="val 4571"/>
            </a:avLst>
          </a:prstGeom>
          <a:solidFill>
            <a:srgbClr val="34333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6446520" y="2130552"/>
            <a:ext cx="4617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C992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Magla i vidljivost</a:t>
            </a:r>
            <a:endParaRPr lang="en-US" sz="1550" dirty="0"/>
          </a:p>
        </p:txBody>
      </p:sp>
      <p:sp>
        <p:nvSpPr>
          <p:cNvPr id="9" name="Text 7"/>
          <p:cNvSpPr/>
          <p:nvPr/>
        </p:nvSpPr>
        <p:spPr>
          <a:xfrm>
            <a:off x="6446520" y="2560320"/>
            <a:ext cx="4617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00" dirty="0">
                <a:solidFill>
                  <a:srgbClr val="D8D5C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Preintenzivna magla progutala je scenu -&gt; fino podešena gustoća i anizotropija.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48640" y="3840480"/>
            <a:ext cx="5257800" cy="1600200"/>
          </a:xfrm>
          <a:prstGeom prst="roundRect">
            <a:avLst>
              <a:gd name="adj" fmla="val 4571"/>
            </a:avLst>
          </a:prstGeom>
          <a:solidFill>
            <a:srgbClr val="34333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868680" y="4005072"/>
            <a:ext cx="4617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C992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Šavovi mahovine</a:t>
            </a:r>
            <a:endParaRPr lang="en-US" sz="1550" dirty="0"/>
          </a:p>
        </p:txBody>
      </p:sp>
      <p:sp>
        <p:nvSpPr>
          <p:cNvPr id="12" name="Text 10"/>
          <p:cNvSpPr/>
          <p:nvPr/>
        </p:nvSpPr>
        <p:spPr>
          <a:xfrm>
            <a:off x="868680" y="4434840"/>
            <a:ext cx="4617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00" dirty="0">
                <a:solidFill>
                  <a:srgbClr val="D8D5C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Klasično UV mapiranje stvaralo je šavove -&gt; triplanarno projiciranje u shaderu.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126480" y="3840480"/>
            <a:ext cx="5257800" cy="1600200"/>
          </a:xfrm>
          <a:prstGeom prst="roundRect">
            <a:avLst>
              <a:gd name="adj" fmla="val 4571"/>
            </a:avLst>
          </a:prstGeom>
          <a:solidFill>
            <a:srgbClr val="34333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6446520" y="4005072"/>
            <a:ext cx="4617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C992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Trošak kolizije</a:t>
            </a:r>
            <a:endParaRPr lang="en-US" sz="1550" dirty="0"/>
          </a:p>
        </p:txBody>
      </p:sp>
      <p:sp>
        <p:nvSpPr>
          <p:cNvPr id="15" name="Text 13"/>
          <p:cNvSpPr/>
          <p:nvPr/>
        </p:nvSpPr>
        <p:spPr>
          <a:xfrm>
            <a:off x="6446520" y="4434840"/>
            <a:ext cx="4617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00" dirty="0">
                <a:solidFill>
                  <a:srgbClr val="D8D5C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Puna vizualna mreža kao kolizija usporavala je fiziku -&gt; zasebna, pojednostavljena kolizija.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3F5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· ZAKLJUČAK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9601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 err="1">
                <a:solidFill>
                  <a:srgbClr val="2B2A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Što</a:t>
            </a:r>
            <a:r>
              <a:rPr lang="en-US" sz="2700" b="1" dirty="0">
                <a:solidFill>
                  <a:srgbClr val="2B2A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</a:t>
            </a:r>
            <a:r>
              <a:rPr lang="hr-HR" sz="2700" b="1" dirty="0">
                <a:solidFill>
                  <a:srgbClr val="2B2A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smo naučili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48640" y="178308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F5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Naučeno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48640" y="2194560"/>
            <a:ext cx="521208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1700"/>
              </a:lnSpc>
              <a:spcAft>
                <a:spcPts val="1000"/>
              </a:spcAft>
              <a:buSzPct val="100000"/>
              <a:buChar char="•"/>
            </a:pPr>
            <a:r>
              <a:rPr lang="hr-HR" sz="1300" dirty="0">
                <a:solidFill>
                  <a:srgbClr val="232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</a:t>
            </a:r>
            <a:r>
              <a:rPr lang="en-US" sz="1300" dirty="0" err="1">
                <a:solidFill>
                  <a:srgbClr val="232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ffline</a:t>
            </a:r>
            <a:r>
              <a:rPr lang="en-US" sz="1300" dirty="0">
                <a:solidFill>
                  <a:srgbClr val="232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render i scena u stvarnom vremenu traže potpuno drugačije odluke, i s istim PBR </a:t>
            </a:r>
            <a:r>
              <a:rPr lang="en-US" sz="1300" dirty="0" err="1">
                <a:solidFill>
                  <a:srgbClr val="232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modelom</a:t>
            </a:r>
            <a:r>
              <a:rPr lang="en-US" sz="1300" dirty="0">
                <a:solidFill>
                  <a:srgbClr val="232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00" dirty="0" err="1">
                <a:solidFill>
                  <a:srgbClr val="232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materijala</a:t>
            </a:r>
            <a:endParaRPr lang="en-US" sz="1300" dirty="0"/>
          </a:p>
          <a:p>
            <a:pPr marL="342900" indent="-342900">
              <a:lnSpc>
                <a:spcPts val="1700"/>
              </a:lnSpc>
              <a:buSzPct val="100000"/>
              <a:buChar char="•"/>
            </a:pPr>
            <a:r>
              <a:rPr lang="hr-HR" sz="1300" dirty="0">
                <a:solidFill>
                  <a:srgbClr val="232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</a:t>
            </a:r>
            <a:r>
              <a:rPr lang="en-US" sz="1300" dirty="0" err="1">
                <a:solidFill>
                  <a:srgbClr val="232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odjela</a:t>
            </a:r>
            <a:r>
              <a:rPr lang="en-US" sz="1300" dirty="0">
                <a:solidFill>
                  <a:srgbClr val="232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alata</a:t>
            </a:r>
            <a:r>
              <a:rPr lang="hr-HR" sz="1300" dirty="0">
                <a:solidFill>
                  <a:srgbClr val="232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-</a:t>
            </a:r>
            <a:r>
              <a:rPr lang="en-US" sz="1300" dirty="0">
                <a:solidFill>
                  <a:srgbClr val="232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Blender za sadržaj, Godot za sve </a:t>
            </a:r>
            <a:r>
              <a:rPr lang="en-US" sz="1300" dirty="0" err="1">
                <a:solidFill>
                  <a:srgbClr val="232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konačne</a:t>
            </a:r>
            <a:r>
              <a:rPr lang="en-US" sz="1300" dirty="0">
                <a:solidFill>
                  <a:srgbClr val="232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00" dirty="0" err="1">
                <a:solidFill>
                  <a:srgbClr val="232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odluke</a:t>
            </a:r>
            <a:r>
              <a:rPr lang="hr-HR" sz="1300" dirty="0">
                <a:solidFill>
                  <a:srgbClr val="232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-</a:t>
            </a:r>
            <a:r>
              <a:rPr lang="en-US" sz="1300" dirty="0">
                <a:solidFill>
                  <a:srgbClr val="232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pokazala se kao dobar okvir za rad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309360" y="178308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F5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Sljedeći put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309360" y="2194560"/>
            <a:ext cx="521208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1700"/>
              </a:lnSpc>
              <a:spcAft>
                <a:spcPts val="1000"/>
              </a:spcAft>
              <a:buSzPct val="100000"/>
              <a:buChar char="•"/>
            </a:pPr>
            <a:r>
              <a:rPr lang="hr-HR" sz="1300" dirty="0">
                <a:solidFill>
                  <a:srgbClr val="232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</a:t>
            </a:r>
            <a:r>
              <a:rPr lang="en-US" sz="1300" dirty="0" err="1">
                <a:solidFill>
                  <a:srgbClr val="232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aniji</a:t>
            </a:r>
            <a:r>
              <a:rPr lang="en-US" sz="1300" dirty="0">
                <a:solidFill>
                  <a:srgbClr val="232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LOD sustav za vegetaciju, koja je danas najgušća </a:t>
            </a:r>
            <a:r>
              <a:rPr lang="en-US" sz="1300" dirty="0" err="1">
                <a:solidFill>
                  <a:srgbClr val="232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blizu</a:t>
            </a:r>
            <a:r>
              <a:rPr lang="en-US" sz="1300" dirty="0">
                <a:solidFill>
                  <a:srgbClr val="232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00" dirty="0" err="1">
                <a:solidFill>
                  <a:srgbClr val="232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kamere</a:t>
            </a:r>
            <a:endParaRPr lang="en-US" sz="1300" dirty="0"/>
          </a:p>
          <a:p>
            <a:pPr marL="342900" indent="-342900">
              <a:lnSpc>
                <a:spcPts val="1700"/>
              </a:lnSpc>
              <a:buSzPct val="100000"/>
              <a:buChar char="•"/>
            </a:pPr>
            <a:r>
              <a:rPr lang="hr-HR" sz="1300" dirty="0">
                <a:solidFill>
                  <a:srgbClr val="232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r>
              <a:rPr lang="en-US" sz="1300" dirty="0" err="1">
                <a:solidFill>
                  <a:srgbClr val="232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inamička</a:t>
            </a:r>
            <a:r>
              <a:rPr lang="en-US" sz="1300" dirty="0">
                <a:solidFill>
                  <a:srgbClr val="232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globalna rasvjeta (SDFGI) za pokretne objekte, uz lightmape za </a:t>
            </a:r>
            <a:r>
              <a:rPr lang="en-US" sz="1300" dirty="0" err="1">
                <a:solidFill>
                  <a:srgbClr val="232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statičnu</a:t>
            </a:r>
            <a:r>
              <a:rPr lang="en-US" sz="1300" dirty="0">
                <a:solidFill>
                  <a:srgbClr val="232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00" dirty="0" err="1">
                <a:solidFill>
                  <a:srgbClr val="232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geometriju</a:t>
            </a:r>
            <a:endParaRPr lang="en-US" sz="1300" dirty="0"/>
          </a:p>
        </p:txBody>
      </p:sp>
      <p:sp>
        <p:nvSpPr>
          <p:cNvPr id="9" name="Closing"/>
          <p:cNvSpPr/>
          <p:nvPr/>
        </p:nvSpPr>
        <p:spPr>
          <a:xfrm>
            <a:off x="548640" y="457200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sz="1600" i="1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E1D1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pptx/_b7_hero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2110F">
              <a:alpha val="6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1"/>
          <p:cNvSpPr/>
          <p:nvPr/>
        </p:nvSpPr>
        <p:spPr>
          <a:xfrm>
            <a:off x="822960" y="2468880"/>
            <a:ext cx="100584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Hvala </a:t>
            </a:r>
            <a:r>
              <a:rPr lang="en-US" sz="4000" b="1" dirty="0" err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na</a:t>
            </a: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</a:t>
            </a:r>
            <a:r>
              <a:rPr lang="en-US" sz="4000" b="1" dirty="0" err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pažnji</a:t>
            </a:r>
            <a:endParaRPr lang="en-US" sz="4000" dirty="0"/>
          </a:p>
        </p:txBody>
      </p:sp>
      <p:sp>
        <p:nvSpPr>
          <p:cNvPr id="5" name="Text 2"/>
          <p:cNvSpPr/>
          <p:nvPr/>
        </p:nvSpPr>
        <p:spPr>
          <a:xfrm>
            <a:off x="822960" y="342900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F4F2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Sad slijedi kratak demo scene uživo.</a:t>
            </a:r>
            <a:endParaRPr lang="en-US" sz="1800" dirty="0"/>
          </a:p>
        </p:txBody>
      </p:sp>
      <p:sp>
        <p:nvSpPr>
          <p:cNvPr id="6" name="Shape 3"/>
          <p:cNvSpPr/>
          <p:nvPr/>
        </p:nvSpPr>
        <p:spPr>
          <a:xfrm>
            <a:off x="822960" y="4114800"/>
            <a:ext cx="2377440" cy="0"/>
          </a:xfrm>
          <a:prstGeom prst="line">
            <a:avLst/>
          </a:prstGeom>
          <a:noFill/>
          <a:ln w="19050">
            <a:solidFill>
              <a:srgbClr val="C992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822960" y="43434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4F2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Mia Macan  ·  Lovro Roguljić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</TotalTime>
  <Words>677</Words>
  <Application>Microsoft Office PowerPoint</Application>
  <PresentationFormat>Widescreen</PresentationFormat>
  <Paragraphs>95</Paragraphs>
  <Slides>11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Mia Macan</cp:lastModifiedBy>
  <cp:revision>3</cp:revision>
  <dcterms:created xsi:type="dcterms:W3CDTF">2026-09-14T20:06:12Z</dcterms:created>
  <dcterms:modified xsi:type="dcterms:W3CDTF">2026-09-14T21:07:29Z</dcterms:modified>
</cp:coreProperties>
</file>